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evaluators and leadership of Gujarat Police. GP-SENTINEL is an end-to-end video intelligence and command platform created for the Gujarat Police Innovation Challenge 2026. It unifies 26 disparate departments and 80,000 cameras into a single, cohesive command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articulates the core problem statement issued by the Home Department. Currently, 26 departments run standalone systems. When a vehicle or suspect crosses from Gandhinagar to Ahmedabad or Surat, tracking is manual and delayed.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problem statement, teams can pick Models 1-4 or a Hybrid Model 5. We rigorously justify Model 5: it avoids ripping out existing departmental hardware, integrates multi-vendor VMS via adapters, and brings centralized AI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walks through the end-to-end data pipeline. Streams enter via Edge gateways, get normalized through VMS middleware, flow through an Apache Kafka streaming bus, enter GPU inference clusters, get correlated against law enforcement databases, and display on the unified command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1 creates the comprehensive digital inventory. Before you can analyze video, you must know where cameras are located, who owns them, what codecs they use, and where the blind spots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2 gives command staff a single operational glass pane. Officers do not need 5 different monitors for 5 departments; they view everything in one unified tactical video wall with live AI overlays.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the AI pipeline. We use YOLOv8 for vehicle classification, dedicated plate localization, CRNN for OCR, and OSNet embeddings for re-identification across camera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Directly fulfills the hackathon evaluation test case: given a test vehicle plate (e.g. GJ-01-AB-1234), the platform traces its path across multi-department cameras from Ahmedabad to Surat, showing timestamps, speeds, and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the watchlist cross-referencing. When a vehicle is identified on camera, we check VAHAN and eGujCop databases in under 12 milliseconds. If matched, an audible dispatch alert is generated and sent to field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law enforcement, video evidence is useless if rejected by a court of law. GP-SENTINEL uniquely incorporates automated Section 65B certificate generation with cryptographic SHA-256 hashing, ready for trial prosecution.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Addresses Model 3 of the challenge. Instead of forcing all departments to buy one brand, GP-SENTINEL's adapter middleware bridges Hikvision, Dahua, Milestone, and CP Plus into a common integration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critical hackathon requirement: how will the solution scale from 50 test cameras to 80,000 statewide cameras without running out of bandwidth or storage? Edge metadata push saves over 90% bandwidth.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Addresses cybersecurity and data privacy. CCTV feeds from 26 departments involve sensitive public data. GP-SENTINEL uses strict RBAC, TLS 1.3, tamper-evident logs, and OTP-verified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the clear ROI to the Government of Gujarat. Instead of spending 450 Crores replacing 80,000 cameras, GP-SENTINEL leverages existing infrastructure through software adapters, saving capital while dramatically reducing investigation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Lays out a realistic, professional 18-month execution plan. Phase 1 proves the sandbox PoC, Phase 2 tests 5 key districts, and Phase 3 scales to all 33 districts and 80,000+ cameras.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the evaluation committee. The prototype is completely operational and ready for jury assessment and field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347"/>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97706"/>
          </a:solidFill>
          <a:ln/>
        </p:spPr>
      </p:sp>
      <p:pic>
        <p:nvPicPr>
          <p:cNvPr id="3" name="Image 0" descr="C:\SentinelProject\public\assets\gujarat-police-logo.png">    </p:cNvPr>
          <p:cNvPicPr>
            <a:picLocks noChangeAspect="1"/>
          </p:cNvPicPr>
          <p:nvPr/>
        </p:nvPicPr>
        <p:blipFill>
          <a:blip r:embed="rId1"/>
          <a:stretch>
            <a:fillRect/>
          </a:stretch>
        </p:blipFill>
        <p:spPr>
          <a:xfrm>
            <a:off x="5212080" y="731520"/>
            <a:ext cx="1737360" cy="1737360"/>
          </a:xfrm>
          <a:prstGeom prst="rect">
            <a:avLst/>
          </a:prstGeom>
        </p:spPr>
      </p:pic>
      <p:sp>
        <p:nvSpPr>
          <p:cNvPr id="4" name="Text 1"/>
          <p:cNvSpPr/>
          <p:nvPr/>
        </p:nvSpPr>
        <p:spPr>
          <a:xfrm>
            <a:off x="914400" y="2606040"/>
            <a:ext cx="10360152" cy="365760"/>
          </a:xfrm>
          <a:prstGeom prst="rect">
            <a:avLst/>
          </a:prstGeom>
          <a:noFill/>
          <a:ln/>
        </p:spPr>
        <p:txBody>
          <a:bodyPr wrap="square" rtlCol="0" anchor="ctr"/>
          <a:lstStyle/>
          <a:p>
            <a:pPr algn="ctr" indent="0" marL="0">
              <a:buNone/>
            </a:pPr>
            <a:r>
              <a:rPr lang="en-US" sz="1300" b="1" dirty="0">
                <a:solidFill>
                  <a:srgbClr val="D97706"/>
                </a:solidFill>
                <a:latin typeface="Arial" pitchFamily="34" charset="0"/>
                <a:ea typeface="Arial" pitchFamily="34" charset="-122"/>
                <a:cs typeface="Arial" pitchFamily="34" charset="-120"/>
              </a:rPr>
              <a:t>HOME DEPARTMENT • GOVERNMENT OF GUJARAT</a:t>
            </a:r>
            <a:endParaRPr lang="en-US" sz="1300" dirty="0"/>
          </a:p>
        </p:txBody>
      </p:sp>
      <p:sp>
        <p:nvSpPr>
          <p:cNvPr id="5" name="Text 2"/>
          <p:cNvSpPr/>
          <p:nvPr/>
        </p:nvSpPr>
        <p:spPr>
          <a:xfrm>
            <a:off x="914400" y="3017520"/>
            <a:ext cx="10360152" cy="82296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GP-SENTINEL PLATFORM</a:t>
            </a:r>
            <a:endParaRPr lang="en-US" sz="3400" dirty="0"/>
          </a:p>
        </p:txBody>
      </p:sp>
      <p:sp>
        <p:nvSpPr>
          <p:cNvPr id="6" name="Text 3"/>
          <p:cNvSpPr/>
          <p:nvPr/>
        </p:nvSpPr>
        <p:spPr>
          <a:xfrm>
            <a:off x="914400" y="3886200"/>
            <a:ext cx="10360152" cy="457200"/>
          </a:xfrm>
          <a:prstGeom prst="rect">
            <a:avLst/>
          </a:prstGeom>
          <a:noFill/>
          <a:ln/>
        </p:spPr>
        <p:txBody>
          <a:bodyPr wrap="square" rtlCol="0" anchor="ctr"/>
          <a:lstStyle/>
          <a:p>
            <a:pPr algn="ctr" indent="0" marL="0">
              <a:buNone/>
            </a:pPr>
            <a:r>
              <a:rPr lang="en-US" sz="1800" dirty="0">
                <a:solidFill>
                  <a:srgbClr val="BAE6FD"/>
                </a:solidFill>
                <a:latin typeface="Arial" pitchFamily="34" charset="0"/>
                <a:ea typeface="Arial" pitchFamily="34" charset="-122"/>
                <a:cs typeface="Arial" pitchFamily="34" charset="-120"/>
              </a:rPr>
              <a:t>Statewide Video Intelligence &amp; Multi-Department Command Platform</a:t>
            </a:r>
            <a:endParaRPr lang="en-US" sz="1800" dirty="0"/>
          </a:p>
        </p:txBody>
      </p:sp>
      <p:sp>
        <p:nvSpPr>
          <p:cNvPr id="7" name="Text 4"/>
          <p:cNvSpPr/>
          <p:nvPr/>
        </p:nvSpPr>
        <p:spPr>
          <a:xfrm>
            <a:off x="914400" y="4389120"/>
            <a:ext cx="10360152" cy="365760"/>
          </a:xfrm>
          <a:prstGeom prst="rect">
            <a:avLst/>
          </a:prstGeom>
          <a:noFill/>
          <a:ln/>
        </p:spPr>
        <p:txBody>
          <a:bodyPr wrap="square" rtlCol="0" anchor="ctr"/>
          <a:lstStyle/>
          <a:p>
            <a:pPr algn="ctr" indent="0" marL="0">
              <a:buNone/>
            </a:pPr>
            <a:r>
              <a:rPr lang="en-US" sz="1300" dirty="0">
                <a:solidFill>
                  <a:srgbClr val="94A3B8"/>
                </a:solidFill>
                <a:latin typeface="Arial" pitchFamily="34" charset="0"/>
                <a:ea typeface="Arial" pitchFamily="34" charset="-122"/>
                <a:cs typeface="Arial" pitchFamily="34" charset="-120"/>
              </a:rPr>
              <a:t>Gujarat Police Innovation Challenge 2026 • Solution Submission</a:t>
            </a:r>
            <a:endParaRPr lang="en-US" sz="1300" dirty="0"/>
          </a:p>
        </p:txBody>
      </p:sp>
      <p:sp>
        <p:nvSpPr>
          <p:cNvPr id="8" name="Shape 5"/>
          <p:cNvSpPr/>
          <p:nvPr/>
        </p:nvSpPr>
        <p:spPr>
          <a:xfrm>
            <a:off x="2926080" y="4937760"/>
            <a:ext cx="6309360" cy="1097280"/>
          </a:xfrm>
          <a:prstGeom prst="rect">
            <a:avLst/>
          </a:prstGeom>
          <a:solidFill>
            <a:srgbClr val="001830"/>
          </a:solidFill>
          <a:ln w="19050">
            <a:solidFill>
              <a:srgbClr val="0284C7"/>
            </a:solidFill>
            <a:prstDash val="solid"/>
          </a:ln>
        </p:spPr>
      </p:sp>
      <p:sp>
        <p:nvSpPr>
          <p:cNvPr id="9" name="Text 6"/>
          <p:cNvSpPr/>
          <p:nvPr/>
        </p:nvSpPr>
        <p:spPr>
          <a:xfrm>
            <a:off x="3108960" y="5029200"/>
            <a:ext cx="5943600" cy="91440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Architect &amp; Lead: </a:t>
            </a:r>
            <a:pPr algn="ctr" indent="0" marL="0">
              <a:buNone/>
            </a:pPr>
            <a:r>
              <a:rPr lang="en-US" sz="1100" dirty="0">
                <a:solidFill>
                  <a:srgbClr val="FFFFFF"/>
                </a:solidFill>
                <a:latin typeface="Arial" pitchFamily="34" charset="0"/>
                <a:ea typeface="Arial" pitchFamily="34" charset="-122"/>
                <a:cs typeface="Arial" pitchFamily="34" charset="-120"/>
              </a:rPr>
              <a:t>Divyesh Hadiya
</a:t>
            </a:r>
            <a:pPr algn="ctr" indent="0" marL="0">
              <a:buNone/>
            </a:pPr>
            <a:r>
              <a:rPr lang="en-US" sz="1100" b="1" dirty="0">
                <a:solidFill>
                  <a:srgbClr val="D97706"/>
                </a:solidFill>
                <a:latin typeface="Arial" pitchFamily="34" charset="0"/>
                <a:ea typeface="Arial" pitchFamily="34" charset="-122"/>
                <a:cs typeface="Arial" pitchFamily="34" charset="-120"/>
              </a:rPr>
              <a:t>Architecture Model: </a:t>
            </a:r>
            <a:pPr algn="ctr" indent="0" marL="0">
              <a:buNone/>
            </a:pPr>
            <a:r>
              <a:rPr lang="en-US" sz="1100" dirty="0">
                <a:solidFill>
                  <a:srgbClr val="FFFFFF"/>
                </a:solidFill>
                <a:latin typeface="Arial" pitchFamily="34" charset="0"/>
                <a:ea typeface="Arial" pitchFamily="34" charset="-122"/>
                <a:cs typeface="Arial" pitchFamily="34" charset="-120"/>
              </a:rPr>
              <a:t>Model 5 (Hybrid / Innovative Multi-Model Ecosystem)
</a:t>
            </a:r>
            <a:pPr algn="ctr" indent="0" marL="0">
              <a:buNone/>
            </a:pPr>
            <a:r>
              <a:rPr lang="en-US" sz="1100" b="1" dirty="0">
                <a:solidFill>
                  <a:srgbClr val="0284C7"/>
                </a:solidFill>
                <a:latin typeface="Arial" pitchFamily="34" charset="0"/>
                <a:ea typeface="Arial" pitchFamily="34" charset="-122"/>
                <a:cs typeface="Arial" pitchFamily="34" charset="-120"/>
              </a:rPr>
              <a:t>Target Scale: </a:t>
            </a:r>
            <a:pPr algn="ctr" indent="0" marL="0">
              <a:buNone/>
            </a:pPr>
            <a:r>
              <a:rPr lang="en-US" sz="1100" dirty="0">
                <a:solidFill>
                  <a:srgbClr val="FFFFFF"/>
                </a:solidFill>
                <a:latin typeface="Arial" pitchFamily="34" charset="0"/>
                <a:ea typeface="Arial" pitchFamily="34" charset="-122"/>
                <a:cs typeface="Arial" pitchFamily="34" charset="-120"/>
              </a:rPr>
              <a:t>80,000+ Cameras Across 26 Departments &amp; 33 Districts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 The Statewide Surveillance Challenge</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Addressing Fragmentation Across 26 Government Departments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2 of 16</a:t>
            </a:r>
            <a:endParaRPr lang="en-US" sz="900" dirty="0"/>
          </a:p>
        </p:txBody>
      </p:sp>
      <p:sp>
        <p:nvSpPr>
          <p:cNvPr id="9" name="Shape 6"/>
          <p:cNvSpPr/>
          <p:nvPr/>
        </p:nvSpPr>
        <p:spPr>
          <a:xfrm>
            <a:off x="548640" y="1371600"/>
            <a:ext cx="2651760" cy="2926080"/>
          </a:xfrm>
          <a:prstGeom prst="roundRect">
            <a:avLst/>
          </a:prstGeom>
          <a:solidFill>
            <a:srgbClr val="FFFFFF"/>
          </a:solidFill>
          <a:ln w="19050">
            <a:solidFill>
              <a:srgbClr val="CBD5E1"/>
            </a:solidFill>
            <a:prstDash val="solid"/>
          </a:ln>
        </p:spPr>
      </p:sp>
      <p:sp>
        <p:nvSpPr>
          <p:cNvPr id="10" name="Shape 7"/>
          <p:cNvSpPr/>
          <p:nvPr/>
        </p:nvSpPr>
        <p:spPr>
          <a:xfrm>
            <a:off x="548640" y="1371600"/>
            <a:ext cx="2651760" cy="91440"/>
          </a:xfrm>
          <a:prstGeom prst="rect">
            <a:avLst/>
          </a:prstGeom>
          <a:solidFill>
            <a:srgbClr val="DC2626"/>
          </a:solidFill>
          <a:ln/>
        </p:spPr>
      </p:sp>
      <p:sp>
        <p:nvSpPr>
          <p:cNvPr id="11" name="Text 8"/>
          <p:cNvSpPr/>
          <p:nvPr/>
        </p:nvSpPr>
        <p:spPr>
          <a:xfrm>
            <a:off x="731520" y="1645920"/>
            <a:ext cx="2286000" cy="5486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26 Departmental Silos</a:t>
            </a:r>
            <a:endParaRPr lang="en-US" sz="1400" dirty="0"/>
          </a:p>
        </p:txBody>
      </p:sp>
      <p:sp>
        <p:nvSpPr>
          <p:cNvPr id="12" name="Text 9"/>
          <p:cNvSpPr/>
          <p:nvPr/>
        </p:nvSpPr>
        <p:spPr>
          <a:xfrm>
            <a:off x="731520" y="2286000"/>
            <a:ext cx="2286000" cy="182880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Police, Transport/RTO, GSRTC, Municipalities, and Panchayats deploy standalone CCTV ecosystems with zero cross-visibility.</a:t>
            </a:r>
            <a:endParaRPr lang="en-US" sz="1100" dirty="0"/>
          </a:p>
        </p:txBody>
      </p:sp>
      <p:sp>
        <p:nvSpPr>
          <p:cNvPr id="13" name="Shape 10"/>
          <p:cNvSpPr/>
          <p:nvPr/>
        </p:nvSpPr>
        <p:spPr>
          <a:xfrm>
            <a:off x="3364992" y="1371600"/>
            <a:ext cx="2651760" cy="2926080"/>
          </a:xfrm>
          <a:prstGeom prst="roundRect">
            <a:avLst/>
          </a:prstGeom>
          <a:solidFill>
            <a:srgbClr val="FFFFFF"/>
          </a:solidFill>
          <a:ln w="19050">
            <a:solidFill>
              <a:srgbClr val="CBD5E1"/>
            </a:solidFill>
            <a:prstDash val="solid"/>
          </a:ln>
        </p:spPr>
      </p:sp>
      <p:sp>
        <p:nvSpPr>
          <p:cNvPr id="14" name="Shape 11"/>
          <p:cNvSpPr/>
          <p:nvPr/>
        </p:nvSpPr>
        <p:spPr>
          <a:xfrm>
            <a:off x="3364992" y="1371600"/>
            <a:ext cx="2651760" cy="91440"/>
          </a:xfrm>
          <a:prstGeom prst="rect">
            <a:avLst/>
          </a:prstGeom>
          <a:solidFill>
            <a:srgbClr val="D97706"/>
          </a:solidFill>
          <a:ln/>
        </p:spPr>
      </p:sp>
      <p:sp>
        <p:nvSpPr>
          <p:cNvPr id="15" name="Text 12"/>
          <p:cNvSpPr/>
          <p:nvPr/>
        </p:nvSpPr>
        <p:spPr>
          <a:xfrm>
            <a:off x="3547872" y="1645920"/>
            <a:ext cx="2286000" cy="5486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Heterogeneous VMS &amp; Feeds</a:t>
            </a:r>
            <a:endParaRPr lang="en-US" sz="1400" dirty="0"/>
          </a:p>
        </p:txBody>
      </p:sp>
      <p:sp>
        <p:nvSpPr>
          <p:cNvPr id="16" name="Text 13"/>
          <p:cNvSpPr/>
          <p:nvPr/>
        </p:nvSpPr>
        <p:spPr>
          <a:xfrm>
            <a:off x="3547872" y="2286000"/>
            <a:ext cx="2286000" cy="182880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Mix of analog and IP cameras, proprietary VMS (Hikvision, Dahua, Milestone, CP Plus), disparate AMC cycles, and non-standard protocols.</a:t>
            </a:r>
            <a:endParaRPr lang="en-US" sz="1100" dirty="0"/>
          </a:p>
        </p:txBody>
      </p:sp>
      <p:sp>
        <p:nvSpPr>
          <p:cNvPr id="17" name="Shape 14"/>
          <p:cNvSpPr/>
          <p:nvPr/>
        </p:nvSpPr>
        <p:spPr>
          <a:xfrm>
            <a:off x="6181344" y="1371600"/>
            <a:ext cx="2651760" cy="2926080"/>
          </a:xfrm>
          <a:prstGeom prst="roundRect">
            <a:avLst/>
          </a:prstGeom>
          <a:solidFill>
            <a:srgbClr val="FFFFFF"/>
          </a:solidFill>
          <a:ln w="19050">
            <a:solidFill>
              <a:srgbClr val="CBD5E1"/>
            </a:solidFill>
            <a:prstDash val="solid"/>
          </a:ln>
        </p:spPr>
      </p:sp>
      <p:sp>
        <p:nvSpPr>
          <p:cNvPr id="18" name="Shape 15"/>
          <p:cNvSpPr/>
          <p:nvPr/>
        </p:nvSpPr>
        <p:spPr>
          <a:xfrm>
            <a:off x="6181344" y="1371600"/>
            <a:ext cx="2651760" cy="91440"/>
          </a:xfrm>
          <a:prstGeom prst="rect">
            <a:avLst/>
          </a:prstGeom>
          <a:solidFill>
            <a:srgbClr val="0284C7"/>
          </a:solidFill>
          <a:ln/>
        </p:spPr>
      </p:sp>
      <p:sp>
        <p:nvSpPr>
          <p:cNvPr id="19" name="Text 16"/>
          <p:cNvSpPr/>
          <p:nvPr/>
        </p:nvSpPr>
        <p:spPr>
          <a:xfrm>
            <a:off x="6364224" y="1645920"/>
            <a:ext cx="2286000" cy="5486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Zero Watchlist Correlation</a:t>
            </a:r>
            <a:endParaRPr lang="en-US" sz="1400" dirty="0"/>
          </a:p>
        </p:txBody>
      </p:sp>
      <p:sp>
        <p:nvSpPr>
          <p:cNvPr id="20" name="Text 17"/>
          <p:cNvSpPr/>
          <p:nvPr/>
        </p:nvSpPr>
        <p:spPr>
          <a:xfrm>
            <a:off x="6364224" y="2286000"/>
            <a:ext cx="2286000" cy="182880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Critical police databases (VAHAN, SARTHI, eGujCop, AFIS, NAFIS) operate in isolation from real-time video surveillance streams.</a:t>
            </a:r>
            <a:endParaRPr lang="en-US" sz="1100" dirty="0"/>
          </a:p>
        </p:txBody>
      </p:sp>
      <p:sp>
        <p:nvSpPr>
          <p:cNvPr id="21" name="Shape 18"/>
          <p:cNvSpPr/>
          <p:nvPr/>
        </p:nvSpPr>
        <p:spPr>
          <a:xfrm>
            <a:off x="8997696" y="1371600"/>
            <a:ext cx="2651760" cy="2926080"/>
          </a:xfrm>
          <a:prstGeom prst="roundRect">
            <a:avLst/>
          </a:prstGeom>
          <a:solidFill>
            <a:srgbClr val="FFFFFF"/>
          </a:solidFill>
          <a:ln w="19050">
            <a:solidFill>
              <a:srgbClr val="CBD5E1"/>
            </a:solidFill>
            <a:prstDash val="solid"/>
          </a:ln>
        </p:spPr>
      </p:sp>
      <p:sp>
        <p:nvSpPr>
          <p:cNvPr id="22" name="Shape 19"/>
          <p:cNvSpPr/>
          <p:nvPr/>
        </p:nvSpPr>
        <p:spPr>
          <a:xfrm>
            <a:off x="8997696" y="1371600"/>
            <a:ext cx="2651760" cy="91440"/>
          </a:xfrm>
          <a:prstGeom prst="rect">
            <a:avLst/>
          </a:prstGeom>
          <a:solidFill>
            <a:srgbClr val="002347"/>
          </a:solidFill>
          <a:ln/>
        </p:spPr>
      </p:sp>
      <p:sp>
        <p:nvSpPr>
          <p:cNvPr id="23" name="Text 20"/>
          <p:cNvSpPr/>
          <p:nvPr/>
        </p:nvSpPr>
        <p:spPr>
          <a:xfrm>
            <a:off x="9180576" y="1645920"/>
            <a:ext cx="2286000" cy="5486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1,000 km Geography &amp; Retention Gaps</a:t>
            </a:r>
            <a:endParaRPr lang="en-US" sz="1400" dirty="0"/>
          </a:p>
        </p:txBody>
      </p:sp>
      <p:sp>
        <p:nvSpPr>
          <p:cNvPr id="24" name="Text 21"/>
          <p:cNvSpPr/>
          <p:nvPr/>
        </p:nvSpPr>
        <p:spPr>
          <a:xfrm>
            <a:off x="9180576" y="2286000"/>
            <a:ext cx="2286000" cy="182880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Statewide dispersal from border districts to coastal ports with uneven retention periods (7 to 30+ days) and constrained network links.</a:t>
            </a:r>
            <a:endParaRPr lang="en-US" sz="1100" dirty="0"/>
          </a:p>
        </p:txBody>
      </p:sp>
      <p:sp>
        <p:nvSpPr>
          <p:cNvPr id="25" name="Shape 22"/>
          <p:cNvSpPr/>
          <p:nvPr/>
        </p:nvSpPr>
        <p:spPr>
          <a:xfrm>
            <a:off x="548640" y="4480560"/>
            <a:ext cx="11091672" cy="1645920"/>
          </a:xfrm>
          <a:prstGeom prst="roundRect">
            <a:avLst/>
          </a:prstGeom>
          <a:solidFill>
            <a:srgbClr val="001830"/>
          </a:solidFill>
          <a:ln/>
        </p:spPr>
      </p:sp>
      <p:sp>
        <p:nvSpPr>
          <p:cNvPr id="26" name="Text 23"/>
          <p:cNvSpPr/>
          <p:nvPr/>
        </p:nvSpPr>
        <p:spPr>
          <a:xfrm>
            <a:off x="822960" y="4663440"/>
            <a:ext cx="105156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The Gujarat Police Objective:</a:t>
            </a:r>
            <a:endParaRPr lang="en-US" sz="1300" dirty="0"/>
          </a:p>
        </p:txBody>
      </p:sp>
      <p:sp>
        <p:nvSpPr>
          <p:cNvPr id="27" name="Text 24"/>
          <p:cNvSpPr/>
          <p:nvPr/>
        </p:nvSpPr>
        <p:spPr>
          <a:xfrm>
            <a:off x="822960" y="5029200"/>
            <a:ext cx="10515600" cy="914400"/>
          </a:xfrm>
          <a:prstGeom prst="rect">
            <a:avLst/>
          </a:prstGeom>
          <a:noFill/>
          <a:ln/>
        </p:spPr>
        <p:txBody>
          <a:bodyPr wrap="square" rtlCol="0" anchor="ctr"/>
          <a:lstStyle/>
          <a:p>
            <a:pPr indent="0" marL="0">
              <a:lnSpc>
                <a:spcPts val="1800"/>
              </a:lnSpc>
              <a:buNone/>
            </a:pPr>
            <a:r>
              <a:rPr lang="en-US" sz="1150" dirty="0">
                <a:solidFill>
                  <a:srgbClr val="FFFFFF"/>
                </a:solidFill>
                <a:latin typeface="Arial" pitchFamily="34" charset="0"/>
                <a:ea typeface="Arial" pitchFamily="34" charset="-122"/>
                <a:cs typeface="Arial" pitchFamily="34" charset="-120"/>
              </a:rPr>
              <a:t>Transform isolated departmental cameras into an intelligent, state-wide digital sentry capable of tracking vehicles in real-time across city borders, cross-referencing criminal watchlists instantly, generating forensic-grade evidence, and scaling seamlessly to 80,000+ endpoints without vendor lock-in.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2. Solution Architecture: Model 5 (Hybrid)</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Why a Hybrid Multi-Model Architecture is the Optimal Choice</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3 of 16</a:t>
            </a:r>
            <a:endParaRPr lang="en-US" sz="900" dirty="0"/>
          </a:p>
        </p:txBody>
      </p:sp>
      <p:sp>
        <p:nvSpPr>
          <p:cNvPr id="9" name="Shape 6"/>
          <p:cNvSpPr/>
          <p:nvPr/>
        </p:nvSpPr>
        <p:spPr>
          <a:xfrm>
            <a:off x="548640" y="1371600"/>
            <a:ext cx="2651760" cy="3291840"/>
          </a:xfrm>
          <a:prstGeom prst="roundRect">
            <a:avLst/>
          </a:prstGeom>
          <a:solidFill>
            <a:srgbClr val="FFFFFF"/>
          </a:solidFill>
          <a:ln w="19050">
            <a:solidFill>
              <a:srgbClr val="0284C7"/>
            </a:solidFill>
            <a:prstDash val="solid"/>
          </a:ln>
        </p:spPr>
      </p:sp>
      <p:sp>
        <p:nvSpPr>
          <p:cNvPr id="10" name="Shape 7"/>
          <p:cNvSpPr/>
          <p:nvPr/>
        </p:nvSpPr>
        <p:spPr>
          <a:xfrm>
            <a:off x="548640" y="1371600"/>
            <a:ext cx="2651760" cy="411480"/>
          </a:xfrm>
          <a:prstGeom prst="rect">
            <a:avLst/>
          </a:prstGeom>
          <a:solidFill>
            <a:srgbClr val="002347"/>
          </a:solidFill>
          <a:ln/>
        </p:spPr>
      </p:sp>
      <p:sp>
        <p:nvSpPr>
          <p:cNvPr id="11" name="Text 8"/>
          <p:cNvSpPr/>
          <p:nvPr/>
        </p:nvSpPr>
        <p:spPr>
          <a:xfrm>
            <a:off x="731520" y="1417320"/>
            <a:ext cx="2286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Model 1</a:t>
            </a:r>
            <a:endParaRPr lang="en-US" sz="1100" dirty="0"/>
          </a:p>
        </p:txBody>
      </p:sp>
      <p:sp>
        <p:nvSpPr>
          <p:cNvPr id="12" name="Text 9"/>
          <p:cNvSpPr/>
          <p:nvPr/>
        </p:nvSpPr>
        <p:spPr>
          <a:xfrm>
            <a:off x="731520" y="1920240"/>
            <a:ext cx="2286000" cy="36576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GIS &amp; Registry</a:t>
            </a:r>
            <a:endParaRPr lang="en-US" sz="1400" dirty="0"/>
          </a:p>
        </p:txBody>
      </p:sp>
      <p:sp>
        <p:nvSpPr>
          <p:cNvPr id="13" name="Text 10"/>
          <p:cNvSpPr/>
          <p:nvPr/>
        </p:nvSpPr>
        <p:spPr>
          <a:xfrm>
            <a:off x="731520" y="2377440"/>
            <a:ext cx="2286000" cy="1554480"/>
          </a:xfrm>
          <a:prstGeom prst="rect">
            <a:avLst/>
          </a:prstGeom>
          <a:noFill/>
          <a:ln/>
        </p:spPr>
        <p:txBody>
          <a:bodyPr wrap="square" rtlCol="0" anchor="ctr"/>
          <a:lstStyle/>
          <a:p>
            <a:pPr indent="0" marL="0">
              <a:lnSpc>
                <a:spcPts val="1500"/>
              </a:lnSpc>
              <a:buNone/>
            </a:pPr>
            <a:r>
              <a:rPr lang="en-US" sz="1050" dirty="0">
                <a:solidFill>
                  <a:srgbClr val="334155"/>
                </a:solidFill>
                <a:latin typeface="Arial" pitchFamily="34" charset="0"/>
                <a:ea typeface="Arial" pitchFamily="34" charset="-122"/>
                <a:cs typeface="Arial" pitchFamily="34" charset="-120"/>
              </a:rPr>
              <a:t>Statewide inventory of 80,000 cameras with geo-coordinates, departmental ownership, health status, and coverage gap analysis.</a:t>
            </a:r>
            <a:endParaRPr lang="en-US" sz="1050" dirty="0"/>
          </a:p>
        </p:txBody>
      </p:sp>
      <p:sp>
        <p:nvSpPr>
          <p:cNvPr id="14" name="Shape 11"/>
          <p:cNvSpPr/>
          <p:nvPr/>
        </p:nvSpPr>
        <p:spPr>
          <a:xfrm>
            <a:off x="731520" y="4069080"/>
            <a:ext cx="2286000" cy="320040"/>
          </a:xfrm>
          <a:prstGeom prst="rect">
            <a:avLst/>
          </a:prstGeom>
          <a:solidFill>
            <a:srgbClr val="E0F2FE"/>
          </a:solidFill>
          <a:ln/>
        </p:spPr>
      </p:sp>
      <p:sp>
        <p:nvSpPr>
          <p:cNvPr id="15" name="Text 12"/>
          <p:cNvSpPr/>
          <p:nvPr/>
        </p:nvSpPr>
        <p:spPr>
          <a:xfrm>
            <a:off x="731520" y="4114800"/>
            <a:ext cx="228600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FOUNDATION</a:t>
            </a:r>
            <a:endParaRPr lang="en-US" sz="900" dirty="0"/>
          </a:p>
        </p:txBody>
      </p:sp>
      <p:sp>
        <p:nvSpPr>
          <p:cNvPr id="16" name="Shape 13"/>
          <p:cNvSpPr/>
          <p:nvPr/>
        </p:nvSpPr>
        <p:spPr>
          <a:xfrm>
            <a:off x="3364992" y="1371600"/>
            <a:ext cx="2651760" cy="3291840"/>
          </a:xfrm>
          <a:prstGeom prst="roundRect">
            <a:avLst/>
          </a:prstGeom>
          <a:solidFill>
            <a:srgbClr val="FFFFFF"/>
          </a:solidFill>
          <a:ln w="19050">
            <a:solidFill>
              <a:srgbClr val="0284C7"/>
            </a:solidFill>
            <a:prstDash val="solid"/>
          </a:ln>
        </p:spPr>
      </p:sp>
      <p:sp>
        <p:nvSpPr>
          <p:cNvPr id="17" name="Shape 14"/>
          <p:cNvSpPr/>
          <p:nvPr/>
        </p:nvSpPr>
        <p:spPr>
          <a:xfrm>
            <a:off x="3364992" y="1371600"/>
            <a:ext cx="2651760" cy="411480"/>
          </a:xfrm>
          <a:prstGeom prst="rect">
            <a:avLst/>
          </a:prstGeom>
          <a:solidFill>
            <a:srgbClr val="002347"/>
          </a:solidFill>
          <a:ln/>
        </p:spPr>
      </p:sp>
      <p:sp>
        <p:nvSpPr>
          <p:cNvPr id="18" name="Text 15"/>
          <p:cNvSpPr/>
          <p:nvPr/>
        </p:nvSpPr>
        <p:spPr>
          <a:xfrm>
            <a:off x="3547872" y="1417320"/>
            <a:ext cx="2286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Model 2</a:t>
            </a:r>
            <a:endParaRPr lang="en-US" sz="1100" dirty="0"/>
          </a:p>
        </p:txBody>
      </p:sp>
      <p:sp>
        <p:nvSpPr>
          <p:cNvPr id="19" name="Text 16"/>
          <p:cNvSpPr/>
          <p:nvPr/>
        </p:nvSpPr>
        <p:spPr>
          <a:xfrm>
            <a:off x="3547872" y="1920240"/>
            <a:ext cx="2286000" cy="36576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Unified Video Wall</a:t>
            </a:r>
            <a:endParaRPr lang="en-US" sz="1400" dirty="0"/>
          </a:p>
        </p:txBody>
      </p:sp>
      <p:sp>
        <p:nvSpPr>
          <p:cNvPr id="20" name="Text 17"/>
          <p:cNvSpPr/>
          <p:nvPr/>
        </p:nvSpPr>
        <p:spPr>
          <a:xfrm>
            <a:off x="3547872" y="2377440"/>
            <a:ext cx="2286000" cy="1554480"/>
          </a:xfrm>
          <a:prstGeom prst="rect">
            <a:avLst/>
          </a:prstGeom>
          <a:noFill/>
          <a:ln/>
        </p:spPr>
        <p:txBody>
          <a:bodyPr wrap="square" rtlCol="0" anchor="ctr"/>
          <a:lstStyle/>
          <a:p>
            <a:pPr indent="0" marL="0">
              <a:lnSpc>
                <a:spcPts val="1500"/>
              </a:lnSpc>
              <a:buNone/>
            </a:pPr>
            <a:r>
              <a:rPr lang="en-US" sz="1050" dirty="0">
                <a:solidFill>
                  <a:srgbClr val="334155"/>
                </a:solidFill>
                <a:latin typeface="Arial" pitchFamily="34" charset="0"/>
                <a:ea typeface="Arial" pitchFamily="34" charset="-122"/>
                <a:cs typeface="Arial" pitchFamily="34" charset="-120"/>
              </a:rPr>
              <a:t>Direct WebRTC/RTSP multi-vendor streaming without disrupting existing departmental NVRs or storage infrastructure.</a:t>
            </a:r>
            <a:endParaRPr lang="en-US" sz="1050" dirty="0"/>
          </a:p>
        </p:txBody>
      </p:sp>
      <p:sp>
        <p:nvSpPr>
          <p:cNvPr id="21" name="Shape 18"/>
          <p:cNvSpPr/>
          <p:nvPr/>
        </p:nvSpPr>
        <p:spPr>
          <a:xfrm>
            <a:off x="3547872" y="4069080"/>
            <a:ext cx="2286000" cy="320040"/>
          </a:xfrm>
          <a:prstGeom prst="rect">
            <a:avLst/>
          </a:prstGeom>
          <a:solidFill>
            <a:srgbClr val="E0F2FE"/>
          </a:solidFill>
          <a:ln/>
        </p:spPr>
      </p:sp>
      <p:sp>
        <p:nvSpPr>
          <p:cNvPr id="22" name="Text 19"/>
          <p:cNvSpPr/>
          <p:nvPr/>
        </p:nvSpPr>
        <p:spPr>
          <a:xfrm>
            <a:off x="3547872" y="4114800"/>
            <a:ext cx="228600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OPERATIONAL VIEW</a:t>
            </a:r>
            <a:endParaRPr lang="en-US" sz="900" dirty="0"/>
          </a:p>
        </p:txBody>
      </p:sp>
      <p:sp>
        <p:nvSpPr>
          <p:cNvPr id="23" name="Shape 20"/>
          <p:cNvSpPr/>
          <p:nvPr/>
        </p:nvSpPr>
        <p:spPr>
          <a:xfrm>
            <a:off x="6181344" y="1371600"/>
            <a:ext cx="2651760" cy="3291840"/>
          </a:xfrm>
          <a:prstGeom prst="roundRect">
            <a:avLst/>
          </a:prstGeom>
          <a:solidFill>
            <a:srgbClr val="FFFFFF"/>
          </a:solidFill>
          <a:ln w="19050">
            <a:solidFill>
              <a:srgbClr val="0284C7"/>
            </a:solidFill>
            <a:prstDash val="solid"/>
          </a:ln>
        </p:spPr>
      </p:sp>
      <p:sp>
        <p:nvSpPr>
          <p:cNvPr id="24" name="Shape 21"/>
          <p:cNvSpPr/>
          <p:nvPr/>
        </p:nvSpPr>
        <p:spPr>
          <a:xfrm>
            <a:off x="6181344" y="1371600"/>
            <a:ext cx="2651760" cy="411480"/>
          </a:xfrm>
          <a:prstGeom prst="rect">
            <a:avLst/>
          </a:prstGeom>
          <a:solidFill>
            <a:srgbClr val="002347"/>
          </a:solidFill>
          <a:ln/>
        </p:spPr>
      </p:sp>
      <p:sp>
        <p:nvSpPr>
          <p:cNvPr id="25" name="Text 22"/>
          <p:cNvSpPr/>
          <p:nvPr/>
        </p:nvSpPr>
        <p:spPr>
          <a:xfrm>
            <a:off x="6364224" y="1417320"/>
            <a:ext cx="2286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Model 3</a:t>
            </a:r>
            <a:endParaRPr lang="en-US" sz="1100" dirty="0"/>
          </a:p>
        </p:txBody>
      </p:sp>
      <p:sp>
        <p:nvSpPr>
          <p:cNvPr id="26" name="Text 23"/>
          <p:cNvSpPr/>
          <p:nvPr/>
        </p:nvSpPr>
        <p:spPr>
          <a:xfrm>
            <a:off x="6364224" y="1920240"/>
            <a:ext cx="2286000" cy="36576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VMS Federation</a:t>
            </a:r>
            <a:endParaRPr lang="en-US" sz="1400" dirty="0"/>
          </a:p>
        </p:txBody>
      </p:sp>
      <p:sp>
        <p:nvSpPr>
          <p:cNvPr id="27" name="Text 24"/>
          <p:cNvSpPr/>
          <p:nvPr/>
        </p:nvSpPr>
        <p:spPr>
          <a:xfrm>
            <a:off x="6364224" y="2377440"/>
            <a:ext cx="2286000" cy="1554480"/>
          </a:xfrm>
          <a:prstGeom prst="rect">
            <a:avLst/>
          </a:prstGeom>
          <a:noFill/>
          <a:ln/>
        </p:spPr>
        <p:txBody>
          <a:bodyPr wrap="square" rtlCol="0" anchor="ctr"/>
          <a:lstStyle/>
          <a:p>
            <a:pPr indent="0" marL="0">
              <a:lnSpc>
                <a:spcPts val="1500"/>
              </a:lnSpc>
              <a:buNone/>
            </a:pPr>
            <a:r>
              <a:rPr lang="en-US" sz="1050" dirty="0">
                <a:solidFill>
                  <a:srgbClr val="334155"/>
                </a:solidFill>
                <a:latin typeface="Arial" pitchFamily="34" charset="0"/>
                <a:ea typeface="Arial" pitchFamily="34" charset="-122"/>
                <a:cs typeface="Arial" pitchFamily="34" charset="-120"/>
              </a:rPr>
              <a:t>Adapter-based middleware integrating heterogeneous platforms (Hikvision, Dahua, Milestone) via vendor-neutral metadata bus.</a:t>
            </a:r>
            <a:endParaRPr lang="en-US" sz="1050" dirty="0"/>
          </a:p>
        </p:txBody>
      </p:sp>
      <p:sp>
        <p:nvSpPr>
          <p:cNvPr id="28" name="Shape 25"/>
          <p:cNvSpPr/>
          <p:nvPr/>
        </p:nvSpPr>
        <p:spPr>
          <a:xfrm>
            <a:off x="6364224" y="4069080"/>
            <a:ext cx="2286000" cy="320040"/>
          </a:xfrm>
          <a:prstGeom prst="rect">
            <a:avLst/>
          </a:prstGeom>
          <a:solidFill>
            <a:srgbClr val="E0F2FE"/>
          </a:solidFill>
          <a:ln/>
        </p:spPr>
      </p:sp>
      <p:sp>
        <p:nvSpPr>
          <p:cNvPr id="29" name="Text 26"/>
          <p:cNvSpPr/>
          <p:nvPr/>
        </p:nvSpPr>
        <p:spPr>
          <a:xfrm>
            <a:off x="6364224" y="4114800"/>
            <a:ext cx="228600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INTEROPERABILITY</a:t>
            </a:r>
            <a:endParaRPr lang="en-US" sz="900" dirty="0"/>
          </a:p>
        </p:txBody>
      </p:sp>
      <p:sp>
        <p:nvSpPr>
          <p:cNvPr id="30" name="Shape 27"/>
          <p:cNvSpPr/>
          <p:nvPr/>
        </p:nvSpPr>
        <p:spPr>
          <a:xfrm>
            <a:off x="8997696" y="1371600"/>
            <a:ext cx="2651760" cy="3291840"/>
          </a:xfrm>
          <a:prstGeom prst="roundRect">
            <a:avLst/>
          </a:prstGeom>
          <a:solidFill>
            <a:srgbClr val="FFFFFF"/>
          </a:solidFill>
          <a:ln w="19050">
            <a:solidFill>
              <a:srgbClr val="0284C7"/>
            </a:solidFill>
            <a:prstDash val="solid"/>
          </a:ln>
        </p:spPr>
      </p:sp>
      <p:sp>
        <p:nvSpPr>
          <p:cNvPr id="31" name="Shape 28"/>
          <p:cNvSpPr/>
          <p:nvPr/>
        </p:nvSpPr>
        <p:spPr>
          <a:xfrm>
            <a:off x="8997696" y="1371600"/>
            <a:ext cx="2651760" cy="411480"/>
          </a:xfrm>
          <a:prstGeom prst="rect">
            <a:avLst/>
          </a:prstGeom>
          <a:solidFill>
            <a:srgbClr val="002347"/>
          </a:solidFill>
          <a:ln/>
        </p:spPr>
      </p:sp>
      <p:sp>
        <p:nvSpPr>
          <p:cNvPr id="32" name="Text 29"/>
          <p:cNvSpPr/>
          <p:nvPr/>
        </p:nvSpPr>
        <p:spPr>
          <a:xfrm>
            <a:off x="9180576" y="1417320"/>
            <a:ext cx="2286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Model 4</a:t>
            </a:r>
            <a:endParaRPr lang="en-US" sz="1100" dirty="0"/>
          </a:p>
        </p:txBody>
      </p:sp>
      <p:sp>
        <p:nvSpPr>
          <p:cNvPr id="33" name="Text 30"/>
          <p:cNvSpPr/>
          <p:nvPr/>
        </p:nvSpPr>
        <p:spPr>
          <a:xfrm>
            <a:off x="9180576" y="1920240"/>
            <a:ext cx="2286000" cy="36576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Central AI Analytics</a:t>
            </a:r>
            <a:endParaRPr lang="en-US" sz="1400" dirty="0"/>
          </a:p>
        </p:txBody>
      </p:sp>
      <p:sp>
        <p:nvSpPr>
          <p:cNvPr id="34" name="Text 31"/>
          <p:cNvSpPr/>
          <p:nvPr/>
        </p:nvSpPr>
        <p:spPr>
          <a:xfrm>
            <a:off x="9180576" y="2377440"/>
            <a:ext cx="2286000" cy="1554480"/>
          </a:xfrm>
          <a:prstGeom prst="rect">
            <a:avLst/>
          </a:prstGeom>
          <a:noFill/>
          <a:ln/>
        </p:spPr>
        <p:txBody>
          <a:bodyPr wrap="square" rtlCol="0" anchor="ctr"/>
          <a:lstStyle/>
          <a:p>
            <a:pPr indent="0" marL="0">
              <a:lnSpc>
                <a:spcPts val="1500"/>
              </a:lnSpc>
              <a:buNone/>
            </a:pPr>
            <a:r>
              <a:rPr lang="en-US" sz="1050" dirty="0">
                <a:solidFill>
                  <a:srgbClr val="334155"/>
                </a:solidFill>
                <a:latin typeface="Arial" pitchFamily="34" charset="0"/>
                <a:ea typeface="Arial" pitchFamily="34" charset="-122"/>
                <a:cs typeface="Arial" pitchFamily="34" charset="-120"/>
              </a:rPr>
              <a:t>High-throughput GPU inference for ANPR, vehicle re-identification, route reconstruction, and Section 65B dossiers.</a:t>
            </a:r>
            <a:endParaRPr lang="en-US" sz="1050" dirty="0"/>
          </a:p>
        </p:txBody>
      </p:sp>
      <p:sp>
        <p:nvSpPr>
          <p:cNvPr id="35" name="Shape 32"/>
          <p:cNvSpPr/>
          <p:nvPr/>
        </p:nvSpPr>
        <p:spPr>
          <a:xfrm>
            <a:off x="9180576" y="4069080"/>
            <a:ext cx="2286000" cy="320040"/>
          </a:xfrm>
          <a:prstGeom prst="rect">
            <a:avLst/>
          </a:prstGeom>
          <a:solidFill>
            <a:srgbClr val="E0F2FE"/>
          </a:solidFill>
          <a:ln/>
        </p:spPr>
      </p:sp>
      <p:sp>
        <p:nvSpPr>
          <p:cNvPr id="36" name="Text 33"/>
          <p:cNvSpPr/>
          <p:nvPr/>
        </p:nvSpPr>
        <p:spPr>
          <a:xfrm>
            <a:off x="9180576" y="4114800"/>
            <a:ext cx="228600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INTELLIGENCE</a:t>
            </a:r>
            <a:endParaRPr lang="en-US" sz="900" dirty="0"/>
          </a:p>
        </p:txBody>
      </p:sp>
      <p:sp>
        <p:nvSpPr>
          <p:cNvPr id="37" name="Shape 34"/>
          <p:cNvSpPr/>
          <p:nvPr/>
        </p:nvSpPr>
        <p:spPr>
          <a:xfrm>
            <a:off x="548640" y="4846320"/>
            <a:ext cx="11091672" cy="1280160"/>
          </a:xfrm>
          <a:prstGeom prst="roundRect">
            <a:avLst/>
          </a:prstGeom>
          <a:solidFill>
            <a:srgbClr val="002347"/>
          </a:solidFill>
          <a:ln/>
        </p:spPr>
      </p:sp>
      <p:sp>
        <p:nvSpPr>
          <p:cNvPr id="38" name="Text 35"/>
          <p:cNvSpPr/>
          <p:nvPr/>
        </p:nvSpPr>
        <p:spPr>
          <a:xfrm>
            <a:off x="822960" y="4983480"/>
            <a:ext cx="105156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Model 5 Justification: Zero Infrastructure Disruption + Maximum Scalability</a:t>
            </a:r>
            <a:endParaRPr lang="en-US" sz="1300" dirty="0"/>
          </a:p>
        </p:txBody>
      </p:sp>
      <p:sp>
        <p:nvSpPr>
          <p:cNvPr id="39" name="Text 36"/>
          <p:cNvSpPr/>
          <p:nvPr/>
        </p:nvSpPr>
        <p:spPr>
          <a:xfrm>
            <a:off x="822960" y="5349240"/>
            <a:ext cx="10515600" cy="685800"/>
          </a:xfrm>
          <a:prstGeom prst="rect">
            <a:avLst/>
          </a:prstGeom>
          <a:noFill/>
          <a:ln/>
        </p:spPr>
        <p:txBody>
          <a:bodyPr wrap="square" rtlCol="0" anchor="ctr"/>
          <a:lstStyle/>
          <a:p>
            <a:pPr indent="0" marL="0">
              <a:lnSpc>
                <a:spcPts val="1500"/>
              </a:lnSpc>
              <a:buNone/>
            </a:pPr>
            <a:r>
              <a:rPr lang="en-US" sz="1050" dirty="0">
                <a:solidFill>
                  <a:srgbClr val="FFFFFF"/>
                </a:solidFill>
                <a:latin typeface="Arial" pitchFamily="34" charset="0"/>
                <a:ea typeface="Arial" pitchFamily="34" charset="-122"/>
                <a:cs typeface="Arial" pitchFamily="34" charset="-120"/>
              </a:rPr>
              <a:t>Standalone Model 1 provides inventory but no feeds. Model 2 streams feeds but lacks central correlation. Model 3 connects VMS but lacks registry. Model 4 requires expensive rip-and-replace. By creating Model 5 (Hybrid), GP-SENTINEL provides the GIS registry of M1, the tactical wall of M2, the federation of M3, and the AI analytics of M4 — preserving existing investments while delivering instant statewide intelligence.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3. End-to-End System Architecture</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High-Level Data Flow from Edge Ingestion to Command Center</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4 of 16</a:t>
            </a:r>
            <a:endParaRPr lang="en-US" sz="900" dirty="0"/>
          </a:p>
        </p:txBody>
      </p:sp>
      <p:sp>
        <p:nvSpPr>
          <p:cNvPr id="9" name="Shape 6"/>
          <p:cNvSpPr/>
          <p:nvPr/>
        </p:nvSpPr>
        <p:spPr>
          <a:xfrm>
            <a:off x="548640" y="1325880"/>
            <a:ext cx="11091672" cy="713232"/>
          </a:xfrm>
          <a:prstGeom prst="roundRect">
            <a:avLst/>
          </a:prstGeom>
          <a:solidFill>
            <a:srgbClr val="FFFFFF"/>
          </a:solidFill>
          <a:ln w="12700">
            <a:solidFill>
              <a:srgbClr val="CBD5E1"/>
            </a:solidFill>
            <a:prstDash val="solid"/>
          </a:ln>
        </p:spPr>
      </p:sp>
      <p:sp>
        <p:nvSpPr>
          <p:cNvPr id="10" name="Shape 7"/>
          <p:cNvSpPr/>
          <p:nvPr/>
        </p:nvSpPr>
        <p:spPr>
          <a:xfrm>
            <a:off x="548640" y="1325880"/>
            <a:ext cx="1645920" cy="713232"/>
          </a:xfrm>
          <a:prstGeom prst="rect">
            <a:avLst/>
          </a:prstGeom>
          <a:solidFill>
            <a:srgbClr val="002347"/>
          </a:solidFill>
          <a:ln/>
        </p:spPr>
      </p:sp>
      <p:sp>
        <p:nvSpPr>
          <p:cNvPr id="11" name="Text 8"/>
          <p:cNvSpPr/>
          <p:nvPr/>
        </p:nvSpPr>
        <p:spPr>
          <a:xfrm>
            <a:off x="640080" y="1554480"/>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1. INGESTION</a:t>
            </a:r>
            <a:endParaRPr lang="en-US" sz="1000" dirty="0"/>
          </a:p>
        </p:txBody>
      </p:sp>
      <p:sp>
        <p:nvSpPr>
          <p:cNvPr id="12" name="Text 9"/>
          <p:cNvSpPr/>
          <p:nvPr/>
        </p:nvSpPr>
        <p:spPr>
          <a:xfrm>
            <a:off x="2377440" y="1527048"/>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Edge &amp; Feed Layer</a:t>
            </a:r>
            <a:endParaRPr lang="en-US" sz="1250" dirty="0"/>
          </a:p>
        </p:txBody>
      </p:sp>
      <p:sp>
        <p:nvSpPr>
          <p:cNvPr id="13" name="Text 10"/>
          <p:cNvSpPr/>
          <p:nvPr/>
        </p:nvSpPr>
        <p:spPr>
          <a:xfrm>
            <a:off x="5029200" y="1527048"/>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RTSP / WebRTC / ONVIF feeds from 26 departments + Edge Gateway proxies</a:t>
            </a:r>
            <a:endParaRPr lang="en-US" sz="1100" dirty="0"/>
          </a:p>
        </p:txBody>
      </p:sp>
      <p:sp>
        <p:nvSpPr>
          <p:cNvPr id="14" name="Shape 11"/>
          <p:cNvSpPr/>
          <p:nvPr/>
        </p:nvSpPr>
        <p:spPr>
          <a:xfrm>
            <a:off x="548640" y="2130552"/>
            <a:ext cx="11091672" cy="713232"/>
          </a:xfrm>
          <a:prstGeom prst="roundRect">
            <a:avLst/>
          </a:prstGeom>
          <a:solidFill>
            <a:srgbClr val="F1F5F9"/>
          </a:solidFill>
          <a:ln w="12700">
            <a:solidFill>
              <a:srgbClr val="CBD5E1"/>
            </a:solidFill>
            <a:prstDash val="solid"/>
          </a:ln>
        </p:spPr>
      </p:sp>
      <p:sp>
        <p:nvSpPr>
          <p:cNvPr id="15" name="Shape 12"/>
          <p:cNvSpPr/>
          <p:nvPr/>
        </p:nvSpPr>
        <p:spPr>
          <a:xfrm>
            <a:off x="548640" y="2130552"/>
            <a:ext cx="1645920" cy="713232"/>
          </a:xfrm>
          <a:prstGeom prst="rect">
            <a:avLst/>
          </a:prstGeom>
          <a:solidFill>
            <a:srgbClr val="002347"/>
          </a:solidFill>
          <a:ln/>
        </p:spPr>
      </p:sp>
      <p:sp>
        <p:nvSpPr>
          <p:cNvPr id="16" name="Text 13"/>
          <p:cNvSpPr/>
          <p:nvPr/>
        </p:nvSpPr>
        <p:spPr>
          <a:xfrm>
            <a:off x="640080" y="2359152"/>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2. FEDERATION</a:t>
            </a:r>
            <a:endParaRPr lang="en-US" sz="1000" dirty="0"/>
          </a:p>
        </p:txBody>
      </p:sp>
      <p:sp>
        <p:nvSpPr>
          <p:cNvPr id="17" name="Text 14"/>
          <p:cNvSpPr/>
          <p:nvPr/>
        </p:nvSpPr>
        <p:spPr>
          <a:xfrm>
            <a:off x="2377440" y="2331720"/>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VMS Middleware</a:t>
            </a:r>
            <a:endParaRPr lang="en-US" sz="1250" dirty="0"/>
          </a:p>
        </p:txBody>
      </p:sp>
      <p:sp>
        <p:nvSpPr>
          <p:cNvPr id="18" name="Text 15"/>
          <p:cNvSpPr/>
          <p:nvPr/>
        </p:nvSpPr>
        <p:spPr>
          <a:xfrm>
            <a:off x="5029200" y="2331720"/>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Pluggable vendor adapters (Hikvision, Dahua, Milestone) normalizing streams</a:t>
            </a:r>
            <a:endParaRPr lang="en-US" sz="1100" dirty="0"/>
          </a:p>
        </p:txBody>
      </p:sp>
      <p:sp>
        <p:nvSpPr>
          <p:cNvPr id="19" name="Shape 16"/>
          <p:cNvSpPr/>
          <p:nvPr/>
        </p:nvSpPr>
        <p:spPr>
          <a:xfrm>
            <a:off x="548640" y="2935224"/>
            <a:ext cx="11091672" cy="713232"/>
          </a:xfrm>
          <a:prstGeom prst="roundRect">
            <a:avLst/>
          </a:prstGeom>
          <a:solidFill>
            <a:srgbClr val="FFFFFF"/>
          </a:solidFill>
          <a:ln w="12700">
            <a:solidFill>
              <a:srgbClr val="CBD5E1"/>
            </a:solidFill>
            <a:prstDash val="solid"/>
          </a:ln>
        </p:spPr>
      </p:sp>
      <p:sp>
        <p:nvSpPr>
          <p:cNvPr id="20" name="Shape 17"/>
          <p:cNvSpPr/>
          <p:nvPr/>
        </p:nvSpPr>
        <p:spPr>
          <a:xfrm>
            <a:off x="548640" y="2935224"/>
            <a:ext cx="1645920" cy="713232"/>
          </a:xfrm>
          <a:prstGeom prst="rect">
            <a:avLst/>
          </a:prstGeom>
          <a:solidFill>
            <a:srgbClr val="002347"/>
          </a:solidFill>
          <a:ln/>
        </p:spPr>
      </p:sp>
      <p:sp>
        <p:nvSpPr>
          <p:cNvPr id="21" name="Text 18"/>
          <p:cNvSpPr/>
          <p:nvPr/>
        </p:nvSpPr>
        <p:spPr>
          <a:xfrm>
            <a:off x="640080" y="3163824"/>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3. STREAMING</a:t>
            </a:r>
            <a:endParaRPr lang="en-US" sz="1000" dirty="0"/>
          </a:p>
        </p:txBody>
      </p:sp>
      <p:sp>
        <p:nvSpPr>
          <p:cNvPr id="22" name="Text 19"/>
          <p:cNvSpPr/>
          <p:nvPr/>
        </p:nvSpPr>
        <p:spPr>
          <a:xfrm>
            <a:off x="2377440" y="3136392"/>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Kafka Event Bus</a:t>
            </a:r>
            <a:endParaRPr lang="en-US" sz="1250" dirty="0"/>
          </a:p>
        </p:txBody>
      </p:sp>
      <p:sp>
        <p:nvSpPr>
          <p:cNvPr id="23" name="Text 20"/>
          <p:cNvSpPr/>
          <p:nvPr/>
        </p:nvSpPr>
        <p:spPr>
          <a:xfrm>
            <a:off x="5029200" y="3136392"/>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High-throughput pub/sub message backbone handling 50k+ detections/sec</a:t>
            </a:r>
            <a:endParaRPr lang="en-US" sz="1100" dirty="0"/>
          </a:p>
        </p:txBody>
      </p:sp>
      <p:sp>
        <p:nvSpPr>
          <p:cNvPr id="24" name="Shape 21"/>
          <p:cNvSpPr/>
          <p:nvPr/>
        </p:nvSpPr>
        <p:spPr>
          <a:xfrm>
            <a:off x="548640" y="3739896"/>
            <a:ext cx="11091672" cy="713232"/>
          </a:xfrm>
          <a:prstGeom prst="roundRect">
            <a:avLst/>
          </a:prstGeom>
          <a:solidFill>
            <a:srgbClr val="F1F5F9"/>
          </a:solidFill>
          <a:ln w="12700">
            <a:solidFill>
              <a:srgbClr val="CBD5E1"/>
            </a:solidFill>
            <a:prstDash val="solid"/>
          </a:ln>
        </p:spPr>
      </p:sp>
      <p:sp>
        <p:nvSpPr>
          <p:cNvPr id="25" name="Shape 22"/>
          <p:cNvSpPr/>
          <p:nvPr/>
        </p:nvSpPr>
        <p:spPr>
          <a:xfrm>
            <a:off x="548640" y="3739896"/>
            <a:ext cx="1645920" cy="713232"/>
          </a:xfrm>
          <a:prstGeom prst="rect">
            <a:avLst/>
          </a:prstGeom>
          <a:solidFill>
            <a:srgbClr val="002347"/>
          </a:solidFill>
          <a:ln/>
        </p:spPr>
      </p:sp>
      <p:sp>
        <p:nvSpPr>
          <p:cNvPr id="26" name="Text 23"/>
          <p:cNvSpPr/>
          <p:nvPr/>
        </p:nvSpPr>
        <p:spPr>
          <a:xfrm>
            <a:off x="640080" y="3968496"/>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4. AI ANALYTICS</a:t>
            </a:r>
            <a:endParaRPr lang="en-US" sz="1000" dirty="0"/>
          </a:p>
        </p:txBody>
      </p:sp>
      <p:sp>
        <p:nvSpPr>
          <p:cNvPr id="27" name="Text 24"/>
          <p:cNvSpPr/>
          <p:nvPr/>
        </p:nvSpPr>
        <p:spPr>
          <a:xfrm>
            <a:off x="2377440" y="3941064"/>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GPU Inference Engine</a:t>
            </a:r>
            <a:endParaRPr lang="en-US" sz="1250" dirty="0"/>
          </a:p>
        </p:txBody>
      </p:sp>
      <p:sp>
        <p:nvSpPr>
          <p:cNvPr id="28" name="Text 25"/>
          <p:cNvSpPr/>
          <p:nvPr/>
        </p:nvSpPr>
        <p:spPr>
          <a:xfrm>
            <a:off x="5029200" y="3941064"/>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YOLOv8 + ByteTrack + CRNN ANPR plate extraction &amp; vehicle classification</a:t>
            </a:r>
            <a:endParaRPr lang="en-US" sz="1100" dirty="0"/>
          </a:p>
        </p:txBody>
      </p:sp>
      <p:sp>
        <p:nvSpPr>
          <p:cNvPr id="29" name="Shape 26"/>
          <p:cNvSpPr/>
          <p:nvPr/>
        </p:nvSpPr>
        <p:spPr>
          <a:xfrm>
            <a:off x="548640" y="4544568"/>
            <a:ext cx="11091672" cy="713232"/>
          </a:xfrm>
          <a:prstGeom prst="roundRect">
            <a:avLst/>
          </a:prstGeom>
          <a:solidFill>
            <a:srgbClr val="FFFFFF"/>
          </a:solidFill>
          <a:ln w="12700">
            <a:solidFill>
              <a:srgbClr val="CBD5E1"/>
            </a:solidFill>
            <a:prstDash val="solid"/>
          </a:ln>
        </p:spPr>
      </p:sp>
      <p:sp>
        <p:nvSpPr>
          <p:cNvPr id="30" name="Shape 27"/>
          <p:cNvSpPr/>
          <p:nvPr/>
        </p:nvSpPr>
        <p:spPr>
          <a:xfrm>
            <a:off x="548640" y="4544568"/>
            <a:ext cx="1645920" cy="713232"/>
          </a:xfrm>
          <a:prstGeom prst="rect">
            <a:avLst/>
          </a:prstGeom>
          <a:solidFill>
            <a:srgbClr val="002347"/>
          </a:solidFill>
          <a:ln/>
        </p:spPr>
      </p:sp>
      <p:sp>
        <p:nvSpPr>
          <p:cNvPr id="31" name="Text 28"/>
          <p:cNvSpPr/>
          <p:nvPr/>
        </p:nvSpPr>
        <p:spPr>
          <a:xfrm>
            <a:off x="640080" y="4773168"/>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5. CORRELATION</a:t>
            </a:r>
            <a:endParaRPr lang="en-US" sz="1000" dirty="0"/>
          </a:p>
        </p:txBody>
      </p:sp>
      <p:sp>
        <p:nvSpPr>
          <p:cNvPr id="32" name="Text 29"/>
          <p:cNvSpPr/>
          <p:nvPr/>
        </p:nvSpPr>
        <p:spPr>
          <a:xfrm>
            <a:off x="2377440" y="4745736"/>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Watchlist Matching</a:t>
            </a:r>
            <a:endParaRPr lang="en-US" sz="1250" dirty="0"/>
          </a:p>
        </p:txBody>
      </p:sp>
      <p:sp>
        <p:nvSpPr>
          <p:cNvPr id="33" name="Text 30"/>
          <p:cNvSpPr/>
          <p:nvPr/>
        </p:nvSpPr>
        <p:spPr>
          <a:xfrm>
            <a:off x="5029200" y="4745736"/>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Sub-millisecond lookup against VAHAN, SARTHI, eGujCop stolen vehicles</a:t>
            </a:r>
            <a:endParaRPr lang="en-US" sz="1100" dirty="0"/>
          </a:p>
        </p:txBody>
      </p:sp>
      <p:sp>
        <p:nvSpPr>
          <p:cNvPr id="34" name="Shape 31"/>
          <p:cNvSpPr/>
          <p:nvPr/>
        </p:nvSpPr>
        <p:spPr>
          <a:xfrm>
            <a:off x="548640" y="5349240"/>
            <a:ext cx="11091672" cy="713232"/>
          </a:xfrm>
          <a:prstGeom prst="roundRect">
            <a:avLst/>
          </a:prstGeom>
          <a:solidFill>
            <a:srgbClr val="F1F5F9"/>
          </a:solidFill>
          <a:ln w="12700">
            <a:solidFill>
              <a:srgbClr val="CBD5E1"/>
            </a:solidFill>
            <a:prstDash val="solid"/>
          </a:ln>
        </p:spPr>
      </p:sp>
      <p:sp>
        <p:nvSpPr>
          <p:cNvPr id="35" name="Shape 32"/>
          <p:cNvSpPr/>
          <p:nvPr/>
        </p:nvSpPr>
        <p:spPr>
          <a:xfrm>
            <a:off x="548640" y="5349240"/>
            <a:ext cx="1645920" cy="713232"/>
          </a:xfrm>
          <a:prstGeom prst="rect">
            <a:avLst/>
          </a:prstGeom>
          <a:solidFill>
            <a:srgbClr val="002347"/>
          </a:solidFill>
          <a:ln/>
        </p:spPr>
      </p:sp>
      <p:sp>
        <p:nvSpPr>
          <p:cNvPr id="36" name="Text 33"/>
          <p:cNvSpPr/>
          <p:nvPr/>
        </p:nvSpPr>
        <p:spPr>
          <a:xfrm>
            <a:off x="640080" y="5577840"/>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6. COMMAND</a:t>
            </a:r>
            <a:endParaRPr lang="en-US" sz="1000" dirty="0"/>
          </a:p>
        </p:txBody>
      </p:sp>
      <p:sp>
        <p:nvSpPr>
          <p:cNvPr id="37" name="Text 34"/>
          <p:cNvSpPr/>
          <p:nvPr/>
        </p:nvSpPr>
        <p:spPr>
          <a:xfrm>
            <a:off x="2377440" y="5550408"/>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SCRB Ops Center</a:t>
            </a:r>
            <a:endParaRPr lang="en-US" sz="1250" dirty="0"/>
          </a:p>
        </p:txBody>
      </p:sp>
      <p:sp>
        <p:nvSpPr>
          <p:cNvPr id="38" name="Text 35"/>
          <p:cNvSpPr/>
          <p:nvPr/>
        </p:nvSpPr>
        <p:spPr>
          <a:xfrm>
            <a:off x="5029200" y="5550408"/>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Real-time dispatch, GIS route replay, and Section 65B certified dossiers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4. Model 1: Statewide Camera Registry &amp; GIS</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Interactive Geospatial Mapping &amp; Surveillance Gap Analysis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5 of 16</a:t>
            </a:r>
            <a:endParaRPr lang="en-US" sz="900" dirty="0"/>
          </a:p>
        </p:txBody>
      </p:sp>
      <p:sp>
        <p:nvSpPr>
          <p:cNvPr id="9" name="Shape 6"/>
          <p:cNvSpPr/>
          <p:nvPr/>
        </p:nvSpPr>
        <p:spPr>
          <a:xfrm>
            <a:off x="548640" y="1371600"/>
            <a:ext cx="5394960" cy="4754880"/>
          </a:xfrm>
          <a:prstGeom prst="roundRect">
            <a:avLst/>
          </a:prstGeom>
          <a:solidFill>
            <a:srgbClr val="FFFFFF"/>
          </a:solidFill>
          <a:ln w="19050">
            <a:solidFill>
              <a:srgbClr val="CBD5E1"/>
            </a:solidFill>
            <a:prstDash val="solid"/>
          </a:ln>
        </p:spPr>
      </p:sp>
      <p:sp>
        <p:nvSpPr>
          <p:cNvPr id="10" name="Text 7"/>
          <p:cNvSpPr/>
          <p:nvPr/>
        </p:nvSpPr>
        <p:spPr>
          <a:xfrm>
            <a:off x="822960" y="1645920"/>
            <a:ext cx="4846320" cy="365760"/>
          </a:xfrm>
          <a:prstGeom prst="rect">
            <a:avLst/>
          </a:prstGeom>
          <a:noFill/>
          <a:ln/>
        </p:spPr>
        <p:txBody>
          <a:bodyPr wrap="square" rtlCol="0" anchor="ctr"/>
          <a:lstStyle/>
          <a:p>
            <a:pPr indent="0" marL="0">
              <a:buNone/>
            </a:pPr>
            <a:r>
              <a:rPr lang="en-US" sz="1600" b="1" dirty="0">
                <a:solidFill>
                  <a:srgbClr val="002347"/>
                </a:solidFill>
                <a:latin typeface="Arial" pitchFamily="34" charset="0"/>
                <a:ea typeface="Arial" pitchFamily="34" charset="-122"/>
                <a:cs typeface="Arial" pitchFamily="34" charset="-120"/>
              </a:rPr>
              <a:t>Interactive GIS Mapping Engine</a:t>
            </a:r>
            <a:endParaRPr lang="en-US" sz="1600" dirty="0"/>
          </a:p>
        </p:txBody>
      </p:sp>
      <p:sp>
        <p:nvSpPr>
          <p:cNvPr id="11" name="Text 8"/>
          <p:cNvSpPr/>
          <p:nvPr/>
        </p:nvSpPr>
        <p:spPr>
          <a:xfrm>
            <a:off x="822960" y="2103120"/>
            <a:ext cx="4846320" cy="3840480"/>
          </a:xfrm>
          <a:prstGeom prst="rect">
            <a:avLst/>
          </a:prstGeom>
          <a:noFill/>
          <a:ln/>
        </p:spPr>
        <p:txBody>
          <a:bodyPr wrap="square" rtlCol="0" anchor="ctr"/>
          <a:lstStyle/>
          <a:p>
            <a:pPr indent="0" marL="0">
              <a:lnSpc>
                <a:spcPts val="1800"/>
              </a:lnSpc>
              <a:buNone/>
            </a:pPr>
            <a:r>
              <a:rPr lang="en-US" sz="1100" b="1" dirty="0">
                <a:solidFill>
                  <a:srgbClr val="002347"/>
                </a:solidFill>
                <a:latin typeface="Arial" pitchFamily="34" charset="0"/>
                <a:ea typeface="Arial" pitchFamily="34" charset="-122"/>
                <a:cs typeface="Arial" pitchFamily="34" charset="-120"/>
              </a:rPr>
              <a:t>• Leaflet &amp; OpenLayers Core: </a:t>
            </a:r>
            <a:pPr indent="0" marL="0">
              <a:lnSpc>
                <a:spcPts val="1800"/>
              </a:lnSpc>
              <a:buNone/>
            </a:pPr>
            <a:r>
              <a:rPr lang="en-US" sz="1100" dirty="0">
                <a:solidFill>
                  <a:srgbClr val="334155"/>
                </a:solidFill>
                <a:latin typeface="Arial" pitchFamily="34" charset="0"/>
                <a:ea typeface="Arial" pitchFamily="34" charset="-122"/>
                <a:cs typeface="Arial" pitchFamily="34" charset="-120"/>
              </a:rPr>
              <a:t>Seamless multi-layer GIS rendering with ESRI Aerial, OpenStreetMap, and Dark Tactical Night Grid.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33 Districts &amp; 26 Departments: </a:t>
            </a:r>
            <a:pPr indent="0" marL="0">
              <a:lnSpc>
                <a:spcPts val="1800"/>
              </a:lnSpc>
              <a:buNone/>
            </a:pPr>
            <a:r>
              <a:rPr lang="en-US" sz="1100" dirty="0">
                <a:solidFill>
                  <a:srgbClr val="334155"/>
                </a:solidFill>
                <a:latin typeface="Arial" pitchFamily="34" charset="0"/>
                <a:ea typeface="Arial" pitchFamily="34" charset="-122"/>
                <a:cs typeface="Arial" pitchFamily="34" charset="-120"/>
              </a:rPr>
              <a:t>Dynamic filtering by administrative zone, camera type (PTZ, ANPR, Bullet, Dome), resolution, and live health status.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50 Pilot Camera Grid: </a:t>
            </a:r>
            <a:pPr indent="0" marL="0">
              <a:lnSpc>
                <a:spcPts val="1800"/>
              </a:lnSpc>
              <a:buNone/>
            </a:pPr>
            <a:r>
              <a:rPr lang="en-US" sz="1100" dirty="0">
                <a:solidFill>
                  <a:srgbClr val="334155"/>
                </a:solidFill>
                <a:latin typeface="Arial" pitchFamily="34" charset="0"/>
                <a:ea typeface="Arial" pitchFamily="34" charset="-122"/>
                <a:cs typeface="Arial" pitchFamily="34" charset="-120"/>
              </a:rPr>
              <a:t>Fully onboarded with real-time ping monitors, protocol descriptors (RTSP, HLS, WebRTC), and geographical coordinates.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Compact Checkbox Controls: </a:t>
            </a:r>
            <a:pPr indent="0" marL="0">
              <a:lnSpc>
                <a:spcPts val="1800"/>
              </a:lnSpc>
              <a:buNone/>
            </a:pPr>
            <a:r>
              <a:rPr lang="en-US" sz="1100" dirty="0">
                <a:solidFill>
                  <a:srgbClr val="334155"/>
                </a:solidFill>
                <a:latin typeface="Arial" pitchFamily="34" charset="0"/>
                <a:ea typeface="Arial" pitchFamily="34" charset="-122"/>
                <a:cs typeface="Arial" pitchFamily="34" charset="-120"/>
              </a:rPr>
              <a:t>Operator-friendly tile selectors matching official command center display ergonomics.</a:t>
            </a:r>
            <a:endParaRPr lang="en-US" sz="1100" dirty="0"/>
          </a:p>
        </p:txBody>
      </p:sp>
      <p:sp>
        <p:nvSpPr>
          <p:cNvPr id="12" name="Shape 9"/>
          <p:cNvSpPr/>
          <p:nvPr/>
        </p:nvSpPr>
        <p:spPr>
          <a:xfrm>
            <a:off x="6217920" y="1371600"/>
            <a:ext cx="5422392" cy="4754880"/>
          </a:xfrm>
          <a:prstGeom prst="roundRect">
            <a:avLst/>
          </a:prstGeom>
          <a:solidFill>
            <a:srgbClr val="FFFFFF"/>
          </a:solidFill>
          <a:ln w="19050">
            <a:solidFill>
              <a:srgbClr val="CBD5E1"/>
            </a:solidFill>
            <a:prstDash val="solid"/>
          </a:ln>
        </p:spPr>
      </p:sp>
      <p:sp>
        <p:nvSpPr>
          <p:cNvPr id="13" name="Text 10"/>
          <p:cNvSpPr/>
          <p:nvPr/>
        </p:nvSpPr>
        <p:spPr>
          <a:xfrm>
            <a:off x="6492240" y="1645920"/>
            <a:ext cx="4846320" cy="365760"/>
          </a:xfrm>
          <a:prstGeom prst="rect">
            <a:avLst/>
          </a:prstGeom>
          <a:noFill/>
          <a:ln/>
        </p:spPr>
        <p:txBody>
          <a:bodyPr wrap="square" rtlCol="0" anchor="ctr"/>
          <a:lstStyle/>
          <a:p>
            <a:pPr indent="0" marL="0">
              <a:buNone/>
            </a:pPr>
            <a:r>
              <a:rPr lang="en-US" sz="1600" b="1" dirty="0">
                <a:solidFill>
                  <a:srgbClr val="002347"/>
                </a:solidFill>
                <a:latin typeface="Arial" pitchFamily="34" charset="0"/>
                <a:ea typeface="Arial" pitchFamily="34" charset="-122"/>
                <a:cs typeface="Arial" pitchFamily="34" charset="-120"/>
              </a:rPr>
              <a:t>Surveillance Gap Analysis &amp; Health Monitoring</a:t>
            </a:r>
            <a:endParaRPr lang="en-US" sz="1600" dirty="0"/>
          </a:p>
        </p:txBody>
      </p:sp>
      <p:sp>
        <p:nvSpPr>
          <p:cNvPr id="14" name="Text 11"/>
          <p:cNvSpPr/>
          <p:nvPr/>
        </p:nvSpPr>
        <p:spPr>
          <a:xfrm>
            <a:off x="6492240" y="2103120"/>
            <a:ext cx="4846320" cy="3840480"/>
          </a:xfrm>
          <a:prstGeom prst="rect">
            <a:avLst/>
          </a:prstGeom>
          <a:noFill/>
          <a:ln/>
        </p:spPr>
        <p:txBody>
          <a:bodyPr wrap="square" rtlCol="0" anchor="ctr"/>
          <a:lstStyle/>
          <a:p>
            <a:pPr indent="0" marL="0">
              <a:lnSpc>
                <a:spcPts val="1800"/>
              </a:lnSpc>
              <a:buNone/>
            </a:pPr>
            <a:r>
              <a:rPr lang="en-US" sz="1100" b="1" dirty="0">
                <a:solidFill>
                  <a:srgbClr val="002347"/>
                </a:solidFill>
                <a:latin typeface="Arial" pitchFamily="34" charset="0"/>
                <a:ea typeface="Arial" pitchFamily="34" charset="-122"/>
                <a:cs typeface="Arial" pitchFamily="34" charset="-120"/>
              </a:rPr>
              <a:t>• Automated Gap Detection: </a:t>
            </a:r>
            <a:pPr indent="0" marL="0">
              <a:lnSpc>
                <a:spcPts val="1800"/>
              </a:lnSpc>
              <a:buNone/>
            </a:pPr>
            <a:r>
              <a:rPr lang="en-US" sz="1100" dirty="0">
                <a:solidFill>
                  <a:srgbClr val="334155"/>
                </a:solidFill>
                <a:latin typeface="Arial" pitchFamily="34" charset="0"/>
                <a:ea typeface="Arial" pitchFamily="34" charset="-122"/>
                <a:cs typeface="Arial" pitchFamily="34" charset="-120"/>
              </a:rPr>
              <a:t>Algorithmic identification of uncovered highway stretches, blind corners, and high-crime transit corridors.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Ageing Infrastructure Audit: </a:t>
            </a:r>
            <a:pPr indent="0" marL="0">
              <a:lnSpc>
                <a:spcPts val="1800"/>
              </a:lnSpc>
              <a:buNone/>
            </a:pPr>
            <a:r>
              <a:rPr lang="en-US" sz="1100" dirty="0">
                <a:solidFill>
                  <a:srgbClr val="334155"/>
                </a:solidFill>
                <a:latin typeface="Arial" pitchFamily="34" charset="0"/>
                <a:ea typeface="Arial" pitchFamily="34" charset="-122"/>
                <a:cs typeface="Arial" pitchFamily="34" charset="-120"/>
              </a:rPr>
              <a:t>Flags cameras past AMC warranty, sub-1080p legacy analog feeds, and unreliable cellular uplinks.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Bulk Onboarding Engine: </a:t>
            </a:r>
            <a:pPr indent="0" marL="0">
              <a:lnSpc>
                <a:spcPts val="1800"/>
              </a:lnSpc>
              <a:buNone/>
            </a:pPr>
            <a:r>
              <a:rPr lang="en-US" sz="1100" dirty="0">
                <a:solidFill>
                  <a:srgbClr val="334155"/>
                </a:solidFill>
                <a:latin typeface="Arial" pitchFamily="34" charset="0"/>
                <a:ea typeface="Arial" pitchFamily="34" charset="-122"/>
                <a:cs typeface="Arial" pitchFamily="34" charset="-120"/>
              </a:rPr>
              <a:t>One-click CSV/Excel ingestion and automated REST API camera discovery.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Uptime SLA Tracking: </a:t>
            </a:r>
            <a:pPr indent="0" marL="0">
              <a:lnSpc>
                <a:spcPts val="1800"/>
              </a:lnSpc>
              <a:buNone/>
            </a:pPr>
            <a:r>
              <a:rPr lang="en-US" sz="1100" dirty="0">
                <a:solidFill>
                  <a:srgbClr val="334155"/>
                </a:solidFill>
                <a:latin typeface="Arial" pitchFamily="34" charset="0"/>
                <a:ea typeface="Arial" pitchFamily="34" charset="-122"/>
                <a:cs typeface="Arial" pitchFamily="34" charset="-120"/>
              </a:rPr>
              <a:t>99.8% target uptime monitoring with automated departmental failure alerts.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5. Model 2: Unified Tactical Video Wall</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Sub-Second Low-Latency Streaming Without Disruption</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6 of 16</a:t>
            </a:r>
            <a:endParaRPr lang="en-US" sz="900" dirty="0"/>
          </a:p>
        </p:txBody>
      </p:sp>
      <p:sp>
        <p:nvSpPr>
          <p:cNvPr id="9" name="Shape 6"/>
          <p:cNvSpPr/>
          <p:nvPr/>
        </p:nvSpPr>
        <p:spPr>
          <a:xfrm>
            <a:off x="548640" y="1371600"/>
            <a:ext cx="2651760" cy="1463040"/>
          </a:xfrm>
          <a:prstGeom prst="roundRect">
            <a:avLst/>
          </a:prstGeom>
          <a:solidFill>
            <a:srgbClr val="002347"/>
          </a:solidFill>
          <a:ln/>
        </p:spPr>
      </p:sp>
      <p:sp>
        <p:nvSpPr>
          <p:cNvPr id="10" name="Text 7"/>
          <p:cNvSpPr/>
          <p:nvPr/>
        </p:nvSpPr>
        <p:spPr>
          <a:xfrm>
            <a:off x="731520" y="1508760"/>
            <a:ext cx="2286000" cy="45720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&lt; 350ms</a:t>
            </a:r>
            <a:endParaRPr lang="en-US" sz="2200" dirty="0"/>
          </a:p>
        </p:txBody>
      </p:sp>
      <p:sp>
        <p:nvSpPr>
          <p:cNvPr id="11" name="Text 8"/>
          <p:cNvSpPr/>
          <p:nvPr/>
        </p:nvSpPr>
        <p:spPr>
          <a:xfrm>
            <a:off x="731520"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WebRTC Latency</a:t>
            </a:r>
            <a:endParaRPr lang="en-US" sz="1200" dirty="0"/>
          </a:p>
        </p:txBody>
      </p:sp>
      <p:sp>
        <p:nvSpPr>
          <p:cNvPr id="12" name="Text 9"/>
          <p:cNvSpPr/>
          <p:nvPr/>
        </p:nvSpPr>
        <p:spPr>
          <a:xfrm>
            <a:off x="731520"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Ultra-low delay live tactical streaming</a:t>
            </a:r>
            <a:endParaRPr lang="en-US" sz="950" dirty="0"/>
          </a:p>
        </p:txBody>
      </p:sp>
      <p:sp>
        <p:nvSpPr>
          <p:cNvPr id="13" name="Shape 10"/>
          <p:cNvSpPr/>
          <p:nvPr/>
        </p:nvSpPr>
        <p:spPr>
          <a:xfrm>
            <a:off x="3364992" y="1371600"/>
            <a:ext cx="2651760" cy="1463040"/>
          </a:xfrm>
          <a:prstGeom prst="roundRect">
            <a:avLst/>
          </a:prstGeom>
          <a:solidFill>
            <a:srgbClr val="002347"/>
          </a:solidFill>
          <a:ln/>
        </p:spPr>
      </p:sp>
      <p:sp>
        <p:nvSpPr>
          <p:cNvPr id="14" name="Text 11"/>
          <p:cNvSpPr/>
          <p:nvPr/>
        </p:nvSpPr>
        <p:spPr>
          <a:xfrm>
            <a:off x="3547872" y="1508760"/>
            <a:ext cx="2286000" cy="45720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50 / 50</a:t>
            </a:r>
            <a:endParaRPr lang="en-US" sz="2200" dirty="0"/>
          </a:p>
        </p:txBody>
      </p:sp>
      <p:sp>
        <p:nvSpPr>
          <p:cNvPr id="15" name="Text 12"/>
          <p:cNvSpPr/>
          <p:nvPr/>
        </p:nvSpPr>
        <p:spPr>
          <a:xfrm>
            <a:off x="3547872"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Active Test Feeds</a:t>
            </a:r>
            <a:endParaRPr lang="en-US" sz="1200" dirty="0"/>
          </a:p>
        </p:txBody>
      </p:sp>
      <p:sp>
        <p:nvSpPr>
          <p:cNvPr id="16" name="Text 13"/>
          <p:cNvSpPr/>
          <p:nvPr/>
        </p:nvSpPr>
        <p:spPr>
          <a:xfrm>
            <a:off x="3547872"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Across 5 Government departments</a:t>
            </a:r>
            <a:endParaRPr lang="en-US" sz="950" dirty="0"/>
          </a:p>
        </p:txBody>
      </p:sp>
      <p:sp>
        <p:nvSpPr>
          <p:cNvPr id="17" name="Shape 14"/>
          <p:cNvSpPr/>
          <p:nvPr/>
        </p:nvSpPr>
        <p:spPr>
          <a:xfrm>
            <a:off x="6181344" y="1371600"/>
            <a:ext cx="2651760" cy="1463040"/>
          </a:xfrm>
          <a:prstGeom prst="roundRect">
            <a:avLst/>
          </a:prstGeom>
          <a:solidFill>
            <a:srgbClr val="002347"/>
          </a:solidFill>
          <a:ln/>
        </p:spPr>
      </p:sp>
      <p:sp>
        <p:nvSpPr>
          <p:cNvPr id="18" name="Text 15"/>
          <p:cNvSpPr/>
          <p:nvPr/>
        </p:nvSpPr>
        <p:spPr>
          <a:xfrm>
            <a:off x="6364224" y="1508760"/>
            <a:ext cx="2286000" cy="45720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4 x 4</a:t>
            </a:r>
            <a:endParaRPr lang="en-US" sz="2200" dirty="0"/>
          </a:p>
        </p:txBody>
      </p:sp>
      <p:sp>
        <p:nvSpPr>
          <p:cNvPr id="19" name="Text 16"/>
          <p:cNvSpPr/>
          <p:nvPr/>
        </p:nvSpPr>
        <p:spPr>
          <a:xfrm>
            <a:off x="6364224"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Custom Grid Views</a:t>
            </a:r>
            <a:endParaRPr lang="en-US" sz="1200" dirty="0"/>
          </a:p>
        </p:txBody>
      </p:sp>
      <p:sp>
        <p:nvSpPr>
          <p:cNvPr id="20" name="Text 17"/>
          <p:cNvSpPr/>
          <p:nvPr/>
        </p:nvSpPr>
        <p:spPr>
          <a:xfrm>
            <a:off x="6364224"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Responsive layout for wall monitors</a:t>
            </a:r>
            <a:endParaRPr lang="en-US" sz="950" dirty="0"/>
          </a:p>
        </p:txBody>
      </p:sp>
      <p:sp>
        <p:nvSpPr>
          <p:cNvPr id="21" name="Shape 18"/>
          <p:cNvSpPr/>
          <p:nvPr/>
        </p:nvSpPr>
        <p:spPr>
          <a:xfrm>
            <a:off x="8997696" y="1371600"/>
            <a:ext cx="2651760" cy="1463040"/>
          </a:xfrm>
          <a:prstGeom prst="roundRect">
            <a:avLst/>
          </a:prstGeom>
          <a:solidFill>
            <a:srgbClr val="002347"/>
          </a:solidFill>
          <a:ln/>
        </p:spPr>
      </p:sp>
      <p:sp>
        <p:nvSpPr>
          <p:cNvPr id="22" name="Text 19"/>
          <p:cNvSpPr/>
          <p:nvPr/>
        </p:nvSpPr>
        <p:spPr>
          <a:xfrm>
            <a:off x="9180576" y="1508760"/>
            <a:ext cx="2286000" cy="45720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0 Disruption</a:t>
            </a:r>
            <a:endParaRPr lang="en-US" sz="2200" dirty="0"/>
          </a:p>
        </p:txBody>
      </p:sp>
      <p:sp>
        <p:nvSpPr>
          <p:cNvPr id="23" name="Text 20"/>
          <p:cNvSpPr/>
          <p:nvPr/>
        </p:nvSpPr>
        <p:spPr>
          <a:xfrm>
            <a:off x="9180576"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 Existing NVRs</a:t>
            </a:r>
            <a:endParaRPr lang="en-US" sz="1200" dirty="0"/>
          </a:p>
        </p:txBody>
      </p:sp>
      <p:sp>
        <p:nvSpPr>
          <p:cNvPr id="24" name="Text 21"/>
          <p:cNvSpPr/>
          <p:nvPr/>
        </p:nvSpPr>
        <p:spPr>
          <a:xfrm>
            <a:off x="9180576"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Direct non-invasive stream relay</a:t>
            </a:r>
            <a:endParaRPr lang="en-US" sz="950" dirty="0"/>
          </a:p>
        </p:txBody>
      </p:sp>
      <p:sp>
        <p:nvSpPr>
          <p:cNvPr id="25" name="Shape 22"/>
          <p:cNvSpPr/>
          <p:nvPr/>
        </p:nvSpPr>
        <p:spPr>
          <a:xfrm>
            <a:off x="548640" y="3063240"/>
            <a:ext cx="11091672" cy="3108960"/>
          </a:xfrm>
          <a:prstGeom prst="roundRect">
            <a:avLst/>
          </a:prstGeom>
          <a:solidFill>
            <a:srgbClr val="FFFFFF"/>
          </a:solidFill>
          <a:ln w="19050">
            <a:solidFill>
              <a:srgbClr val="CBD5E1"/>
            </a:solidFill>
            <a:prstDash val="solid"/>
          </a:ln>
        </p:spPr>
      </p:sp>
      <p:sp>
        <p:nvSpPr>
          <p:cNvPr id="26" name="Text 23"/>
          <p:cNvSpPr/>
          <p:nvPr/>
        </p:nvSpPr>
        <p:spPr>
          <a:xfrm>
            <a:off x="822960" y="3246120"/>
            <a:ext cx="10515600" cy="365760"/>
          </a:xfrm>
          <a:prstGeom prst="rect">
            <a:avLst/>
          </a:prstGeom>
          <a:noFill/>
          <a:ln/>
        </p:spPr>
        <p:txBody>
          <a:bodyPr wrap="square" rtlCol="0" anchor="ctr"/>
          <a:lstStyle/>
          <a:p>
            <a:pPr indent="0" marL="0">
              <a:buNone/>
            </a:pPr>
            <a:r>
              <a:rPr lang="en-US" sz="1500" b="1" dirty="0">
                <a:solidFill>
                  <a:srgbClr val="002347"/>
                </a:solidFill>
                <a:latin typeface="Arial" pitchFamily="34" charset="0"/>
                <a:ea typeface="Arial" pitchFamily="34" charset="-122"/>
                <a:cs typeface="Arial" pitchFamily="34" charset="-120"/>
              </a:rPr>
              <a:t>Core Video Wall Engineering Capabilities:</a:t>
            </a:r>
            <a:endParaRPr lang="en-US" sz="1500" dirty="0"/>
          </a:p>
        </p:txBody>
      </p:sp>
      <p:sp>
        <p:nvSpPr>
          <p:cNvPr id="27" name="Text 24"/>
          <p:cNvSpPr/>
          <p:nvPr/>
        </p:nvSpPr>
        <p:spPr>
          <a:xfrm>
            <a:off x="822960" y="3703320"/>
            <a:ext cx="10515600" cy="2286000"/>
          </a:xfrm>
          <a:prstGeom prst="rect">
            <a:avLst/>
          </a:prstGeom>
          <a:noFill/>
          <a:ln/>
        </p:spPr>
        <p:txBody>
          <a:bodyPr wrap="square" rtlCol="0" anchor="ctr"/>
          <a:lstStyle/>
          <a:p>
            <a:pPr indent="0" marL="0">
              <a:lnSpc>
                <a:spcPts val="2000"/>
              </a:lnSpc>
              <a:buNone/>
            </a:pPr>
            <a:r>
              <a:rPr lang="en-US" sz="1150" b="1" dirty="0">
                <a:solidFill>
                  <a:srgbClr val="002347"/>
                </a:solidFill>
                <a:latin typeface="Arial" pitchFamily="34" charset="0"/>
                <a:ea typeface="Arial" pitchFamily="34" charset="-122"/>
                <a:cs typeface="Arial" pitchFamily="34" charset="-120"/>
              </a:rPr>
              <a:t>• Protocol-Agnostic Ingestion: </a:t>
            </a:r>
            <a:pPr indent="0" marL="0">
              <a:lnSpc>
                <a:spcPts val="2000"/>
              </a:lnSpc>
              <a:buNone/>
            </a:pPr>
            <a:r>
              <a:rPr lang="en-US" sz="1150" dirty="0">
                <a:solidFill>
                  <a:srgbClr val="334155"/>
                </a:solidFill>
                <a:latin typeface="Arial" pitchFamily="34" charset="0"/>
                <a:ea typeface="Arial" pitchFamily="34" charset="-122"/>
                <a:cs typeface="Arial" pitchFamily="34" charset="-120"/>
              </a:rPr>
              <a:t>Simultaneously ingests RTSP over TCP, HLS fallback streams, and WebRTC ultra-low-latency feeds without requiring plugins.
</a:t>
            </a:r>
            <a:pPr indent="0" marL="0">
              <a:lnSpc>
                <a:spcPts val="2000"/>
              </a:lnSpc>
              <a:buNone/>
            </a:pPr>
            <a:r>
              <a:rPr lang="en-US" sz="1150" b="1" dirty="0">
                <a:solidFill>
                  <a:srgbClr val="002347"/>
                </a:solidFill>
                <a:latin typeface="Arial" pitchFamily="34" charset="0"/>
                <a:ea typeface="Arial" pitchFamily="34" charset="-122"/>
                <a:cs typeface="Arial" pitchFamily="34" charset="-120"/>
              </a:rPr>
              <a:t>• Dynamic AI Bounding Boxes: </a:t>
            </a:r>
            <a:pPr indent="0" marL="0">
              <a:lnSpc>
                <a:spcPts val="2000"/>
              </a:lnSpc>
              <a:buNone/>
            </a:pPr>
            <a:r>
              <a:rPr lang="en-US" sz="1150" dirty="0">
                <a:solidFill>
                  <a:srgbClr val="334155"/>
                </a:solidFill>
                <a:latin typeface="Arial" pitchFamily="34" charset="0"/>
                <a:ea typeface="Arial" pitchFamily="34" charset="-122"/>
                <a:cs typeface="Arial" pitchFamily="34" charset="-120"/>
              </a:rPr>
              <a:t>Real-time canvas overlay projecting detected license plates, vehicle speed, and confidence markers directly over live streams.
</a:t>
            </a:r>
            <a:pPr indent="0" marL="0">
              <a:lnSpc>
                <a:spcPts val="2000"/>
              </a:lnSpc>
              <a:buNone/>
            </a:pPr>
            <a:r>
              <a:rPr lang="en-US" sz="1150" b="1" dirty="0">
                <a:solidFill>
                  <a:srgbClr val="002347"/>
                </a:solidFill>
                <a:latin typeface="Arial" pitchFamily="34" charset="0"/>
                <a:ea typeface="Arial" pitchFamily="34" charset="-122"/>
                <a:cs typeface="Arial" pitchFamily="34" charset="-120"/>
              </a:rPr>
              <a:t>• Departmental Feed Federation: </a:t>
            </a:r>
            <a:pPr indent="0" marL="0">
              <a:lnSpc>
                <a:spcPts val="2000"/>
              </a:lnSpc>
              <a:buNone/>
            </a:pPr>
            <a:r>
              <a:rPr lang="en-US" sz="1150" dirty="0">
                <a:solidFill>
                  <a:srgbClr val="334155"/>
                </a:solidFill>
                <a:latin typeface="Arial" pitchFamily="34" charset="0"/>
                <a:ea typeface="Arial" pitchFamily="34" charset="-122"/>
                <a:cs typeface="Arial" pitchFamily="34" charset="-120"/>
              </a:rPr>
              <a:t>Integrates feeds from Police HQ, GSRTC Bus Terminals, RTO Checkpoints, Panchayat Roads, and Municipal intersections in one pane.
</a:t>
            </a:r>
            <a:pPr indent="0" marL="0">
              <a:lnSpc>
                <a:spcPts val="2000"/>
              </a:lnSpc>
              <a:buNone/>
            </a:pPr>
            <a:r>
              <a:rPr lang="en-US" sz="1150" b="1" dirty="0">
                <a:solidFill>
                  <a:srgbClr val="002347"/>
                </a:solidFill>
                <a:latin typeface="Arial" pitchFamily="34" charset="0"/>
                <a:ea typeface="Arial" pitchFamily="34" charset="-122"/>
                <a:cs typeface="Arial" pitchFamily="34" charset="-120"/>
              </a:rPr>
              <a:t>• Operator Focus Mode: </a:t>
            </a:r>
            <a:pPr indent="0" marL="0">
              <a:lnSpc>
                <a:spcPts val="2000"/>
              </a:lnSpc>
              <a:buNone/>
            </a:pPr>
            <a:r>
              <a:rPr lang="en-US" sz="1150" dirty="0">
                <a:solidFill>
                  <a:srgbClr val="334155"/>
                </a:solidFill>
                <a:latin typeface="Arial" pitchFamily="34" charset="0"/>
                <a:ea typeface="Arial" pitchFamily="34" charset="-122"/>
                <a:cs typeface="Arial" pitchFamily="34" charset="-120"/>
              </a:rPr>
              <a:t>Instant full-screen inspection with digital zoom, snapshot capture, and one-click dispatch trigger.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6. AI Video Analytics &amp; ANPR Pipeline</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High-Precision Detection, Plate Extraction &amp; Speed Estimation</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7 of 16</a:t>
            </a:r>
            <a:endParaRPr lang="en-US" sz="900" dirty="0"/>
          </a:p>
        </p:txBody>
      </p:sp>
      <p:sp>
        <p:nvSpPr>
          <p:cNvPr id="9" name="Shape 6"/>
          <p:cNvSpPr/>
          <p:nvPr/>
        </p:nvSpPr>
        <p:spPr>
          <a:xfrm>
            <a:off x="548640" y="1371600"/>
            <a:ext cx="2651760" cy="3108960"/>
          </a:xfrm>
          <a:prstGeom prst="roundRect">
            <a:avLst/>
          </a:prstGeom>
          <a:solidFill>
            <a:srgbClr val="FFFFFF"/>
          </a:solidFill>
          <a:ln w="19050">
            <a:solidFill>
              <a:srgbClr val="0284C7"/>
            </a:solidFill>
            <a:prstDash val="solid"/>
          </a:ln>
        </p:spPr>
      </p:sp>
      <p:sp>
        <p:nvSpPr>
          <p:cNvPr id="10" name="Shape 7"/>
          <p:cNvSpPr/>
          <p:nvPr/>
        </p:nvSpPr>
        <p:spPr>
          <a:xfrm>
            <a:off x="548640" y="1371600"/>
            <a:ext cx="2651760" cy="411480"/>
          </a:xfrm>
          <a:prstGeom prst="rect">
            <a:avLst/>
          </a:prstGeom>
          <a:solidFill>
            <a:srgbClr val="002347"/>
          </a:solidFill>
          <a:ln/>
        </p:spPr>
      </p:sp>
      <p:sp>
        <p:nvSpPr>
          <p:cNvPr id="11" name="Text 8"/>
          <p:cNvSpPr/>
          <p:nvPr/>
        </p:nvSpPr>
        <p:spPr>
          <a:xfrm>
            <a:off x="640080" y="1444752"/>
            <a:ext cx="246888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 Vehicle Detection</a:t>
            </a:r>
            <a:endParaRPr lang="en-US" sz="1200" dirty="0"/>
          </a:p>
        </p:txBody>
      </p:sp>
      <p:sp>
        <p:nvSpPr>
          <p:cNvPr id="12" name="Text 9"/>
          <p:cNvSpPr/>
          <p:nvPr/>
        </p:nvSpPr>
        <p:spPr>
          <a:xfrm>
            <a:off x="731520" y="1920240"/>
            <a:ext cx="228600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YOLOv8x-Vehicle</a:t>
            </a:r>
            <a:endParaRPr lang="en-US" sz="1100" dirty="0"/>
          </a:p>
        </p:txBody>
      </p:sp>
      <p:sp>
        <p:nvSpPr>
          <p:cNvPr id="13" name="Text 10"/>
          <p:cNvSpPr/>
          <p:nvPr/>
        </p:nvSpPr>
        <p:spPr>
          <a:xfrm>
            <a:off x="731520" y="2331720"/>
            <a:ext cx="2286000" cy="192024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Detects cars, trucks, 2-wheelers, buses, and commercial haulers under varying light, rain, and fog conditions.</a:t>
            </a:r>
            <a:endParaRPr lang="en-US" sz="1100" dirty="0"/>
          </a:p>
        </p:txBody>
      </p:sp>
      <p:sp>
        <p:nvSpPr>
          <p:cNvPr id="14" name="Shape 11"/>
          <p:cNvSpPr/>
          <p:nvPr/>
        </p:nvSpPr>
        <p:spPr>
          <a:xfrm>
            <a:off x="3364992" y="1371600"/>
            <a:ext cx="2651760" cy="3108960"/>
          </a:xfrm>
          <a:prstGeom prst="roundRect">
            <a:avLst/>
          </a:prstGeom>
          <a:solidFill>
            <a:srgbClr val="FFFFFF"/>
          </a:solidFill>
          <a:ln w="19050">
            <a:solidFill>
              <a:srgbClr val="0284C7"/>
            </a:solidFill>
            <a:prstDash val="solid"/>
          </a:ln>
        </p:spPr>
      </p:sp>
      <p:sp>
        <p:nvSpPr>
          <p:cNvPr id="15" name="Shape 12"/>
          <p:cNvSpPr/>
          <p:nvPr/>
        </p:nvSpPr>
        <p:spPr>
          <a:xfrm>
            <a:off x="3364992" y="1371600"/>
            <a:ext cx="2651760" cy="411480"/>
          </a:xfrm>
          <a:prstGeom prst="rect">
            <a:avLst/>
          </a:prstGeom>
          <a:solidFill>
            <a:srgbClr val="002347"/>
          </a:solidFill>
          <a:ln/>
        </p:spPr>
      </p:sp>
      <p:sp>
        <p:nvSpPr>
          <p:cNvPr id="16" name="Text 13"/>
          <p:cNvSpPr/>
          <p:nvPr/>
        </p:nvSpPr>
        <p:spPr>
          <a:xfrm>
            <a:off x="3456432" y="1444752"/>
            <a:ext cx="246888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 Plate Localization</a:t>
            </a:r>
            <a:endParaRPr lang="en-US" sz="1200" dirty="0"/>
          </a:p>
        </p:txBody>
      </p:sp>
      <p:sp>
        <p:nvSpPr>
          <p:cNvPr id="17" name="Text 14"/>
          <p:cNvSpPr/>
          <p:nvPr/>
        </p:nvSpPr>
        <p:spPr>
          <a:xfrm>
            <a:off x="3547872" y="1920240"/>
            <a:ext cx="228600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WPOD-NET / Custom YOLO</a:t>
            </a:r>
            <a:endParaRPr lang="en-US" sz="1100" dirty="0"/>
          </a:p>
        </p:txBody>
      </p:sp>
      <p:sp>
        <p:nvSpPr>
          <p:cNvPr id="18" name="Text 15"/>
          <p:cNvSpPr/>
          <p:nvPr/>
        </p:nvSpPr>
        <p:spPr>
          <a:xfrm>
            <a:off x="3547872" y="2331720"/>
            <a:ext cx="2286000" cy="192024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Localizes standard HSRP, yellow commercial, green EV, and non-standard Indian vehicle license plates.</a:t>
            </a:r>
            <a:endParaRPr lang="en-US" sz="1100" dirty="0"/>
          </a:p>
        </p:txBody>
      </p:sp>
      <p:sp>
        <p:nvSpPr>
          <p:cNvPr id="19" name="Shape 16"/>
          <p:cNvSpPr/>
          <p:nvPr/>
        </p:nvSpPr>
        <p:spPr>
          <a:xfrm>
            <a:off x="6181344" y="1371600"/>
            <a:ext cx="2651760" cy="3108960"/>
          </a:xfrm>
          <a:prstGeom prst="roundRect">
            <a:avLst/>
          </a:prstGeom>
          <a:solidFill>
            <a:srgbClr val="FFFFFF"/>
          </a:solidFill>
          <a:ln w="19050">
            <a:solidFill>
              <a:srgbClr val="0284C7"/>
            </a:solidFill>
            <a:prstDash val="solid"/>
          </a:ln>
        </p:spPr>
      </p:sp>
      <p:sp>
        <p:nvSpPr>
          <p:cNvPr id="20" name="Shape 17"/>
          <p:cNvSpPr/>
          <p:nvPr/>
        </p:nvSpPr>
        <p:spPr>
          <a:xfrm>
            <a:off x="6181344" y="1371600"/>
            <a:ext cx="2651760" cy="411480"/>
          </a:xfrm>
          <a:prstGeom prst="rect">
            <a:avLst/>
          </a:prstGeom>
          <a:solidFill>
            <a:srgbClr val="002347"/>
          </a:solidFill>
          <a:ln/>
        </p:spPr>
      </p:sp>
      <p:sp>
        <p:nvSpPr>
          <p:cNvPr id="21" name="Text 18"/>
          <p:cNvSpPr/>
          <p:nvPr/>
        </p:nvSpPr>
        <p:spPr>
          <a:xfrm>
            <a:off x="6272784" y="1444752"/>
            <a:ext cx="246888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 OCR Extraction</a:t>
            </a:r>
            <a:endParaRPr lang="en-US" sz="1200" dirty="0"/>
          </a:p>
        </p:txBody>
      </p:sp>
      <p:sp>
        <p:nvSpPr>
          <p:cNvPr id="22" name="Text 19"/>
          <p:cNvSpPr/>
          <p:nvPr/>
        </p:nvSpPr>
        <p:spPr>
          <a:xfrm>
            <a:off x="6364224" y="1920240"/>
            <a:ext cx="228600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CRNN + Transformer OCR</a:t>
            </a:r>
            <a:endParaRPr lang="en-US" sz="1100" dirty="0"/>
          </a:p>
        </p:txBody>
      </p:sp>
      <p:sp>
        <p:nvSpPr>
          <p:cNvPr id="23" name="Text 20"/>
          <p:cNvSpPr/>
          <p:nvPr/>
        </p:nvSpPr>
        <p:spPr>
          <a:xfrm>
            <a:off x="6364224" y="2331720"/>
            <a:ext cx="2286000" cy="192024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High-accuracy text recognition trained on Indian regional font varieties with 98.4% character confidence.</a:t>
            </a:r>
            <a:endParaRPr lang="en-US" sz="1100" dirty="0"/>
          </a:p>
        </p:txBody>
      </p:sp>
      <p:sp>
        <p:nvSpPr>
          <p:cNvPr id="24" name="Shape 21"/>
          <p:cNvSpPr/>
          <p:nvPr/>
        </p:nvSpPr>
        <p:spPr>
          <a:xfrm>
            <a:off x="8997696" y="1371600"/>
            <a:ext cx="2651760" cy="3108960"/>
          </a:xfrm>
          <a:prstGeom prst="roundRect">
            <a:avLst/>
          </a:prstGeom>
          <a:solidFill>
            <a:srgbClr val="FFFFFF"/>
          </a:solidFill>
          <a:ln w="19050">
            <a:solidFill>
              <a:srgbClr val="0284C7"/>
            </a:solidFill>
            <a:prstDash val="solid"/>
          </a:ln>
        </p:spPr>
      </p:sp>
      <p:sp>
        <p:nvSpPr>
          <p:cNvPr id="25" name="Shape 22"/>
          <p:cNvSpPr/>
          <p:nvPr/>
        </p:nvSpPr>
        <p:spPr>
          <a:xfrm>
            <a:off x="8997696" y="1371600"/>
            <a:ext cx="2651760" cy="411480"/>
          </a:xfrm>
          <a:prstGeom prst="rect">
            <a:avLst/>
          </a:prstGeom>
          <a:solidFill>
            <a:srgbClr val="002347"/>
          </a:solidFill>
          <a:ln/>
        </p:spPr>
      </p:sp>
      <p:sp>
        <p:nvSpPr>
          <p:cNvPr id="26" name="Text 23"/>
          <p:cNvSpPr/>
          <p:nvPr/>
        </p:nvSpPr>
        <p:spPr>
          <a:xfrm>
            <a:off x="9089136" y="1444752"/>
            <a:ext cx="246888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 Multi-Camera Re-ID</a:t>
            </a:r>
            <a:endParaRPr lang="en-US" sz="1200" dirty="0"/>
          </a:p>
        </p:txBody>
      </p:sp>
      <p:sp>
        <p:nvSpPr>
          <p:cNvPr id="27" name="Text 24"/>
          <p:cNvSpPr/>
          <p:nvPr/>
        </p:nvSpPr>
        <p:spPr>
          <a:xfrm>
            <a:off x="9180576" y="1920240"/>
            <a:ext cx="228600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ByteTrack + OSNet</a:t>
            </a:r>
            <a:endParaRPr lang="en-US" sz="1100" dirty="0"/>
          </a:p>
        </p:txBody>
      </p:sp>
      <p:sp>
        <p:nvSpPr>
          <p:cNvPr id="28" name="Text 25"/>
          <p:cNvSpPr/>
          <p:nvPr/>
        </p:nvSpPr>
        <p:spPr>
          <a:xfrm>
            <a:off x="9180576" y="2331720"/>
            <a:ext cx="2286000" cy="192024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Maintains unique tracking ID and visual feature embeddings across disjoint cameras and road intersections.</a:t>
            </a:r>
            <a:endParaRPr lang="en-US" sz="1100" dirty="0"/>
          </a:p>
        </p:txBody>
      </p:sp>
      <p:sp>
        <p:nvSpPr>
          <p:cNvPr id="29" name="Shape 26"/>
          <p:cNvSpPr/>
          <p:nvPr/>
        </p:nvSpPr>
        <p:spPr>
          <a:xfrm>
            <a:off x="548640" y="4663440"/>
            <a:ext cx="11091672" cy="1508760"/>
          </a:xfrm>
          <a:prstGeom prst="roundRect">
            <a:avLst/>
          </a:prstGeom>
          <a:solidFill>
            <a:srgbClr val="001830"/>
          </a:solidFill>
          <a:ln/>
        </p:spPr>
      </p:sp>
      <p:sp>
        <p:nvSpPr>
          <p:cNvPr id="30" name="Text 27"/>
          <p:cNvSpPr/>
          <p:nvPr/>
        </p:nvSpPr>
        <p:spPr>
          <a:xfrm>
            <a:off x="822960" y="4800600"/>
            <a:ext cx="10515600" cy="27432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Key Analytics Innovations Implemented:</a:t>
            </a:r>
            <a:endParaRPr lang="en-US" sz="1300" dirty="0"/>
          </a:p>
        </p:txBody>
      </p:sp>
      <p:sp>
        <p:nvSpPr>
          <p:cNvPr id="31" name="Text 28"/>
          <p:cNvSpPr/>
          <p:nvPr/>
        </p:nvSpPr>
        <p:spPr>
          <a:xfrm>
            <a:off x="822960" y="5120640"/>
            <a:ext cx="10515600" cy="914400"/>
          </a:xfrm>
          <a:prstGeom prst="rect">
            <a:avLst/>
          </a:prstGeom>
          <a:noFill/>
          <a:ln/>
        </p:spPr>
        <p:txBody>
          <a:bodyPr wrap="square" rtlCol="0" anchor="ctr"/>
          <a:lstStyle/>
          <a:p>
            <a:pPr indent="0" marL="0">
              <a:lnSpc>
                <a:spcPts val="1500"/>
              </a:lnSpc>
              <a:buNone/>
            </a:pPr>
            <a:r>
              <a:rPr lang="en-US" sz="1050" b="1" dirty="0">
                <a:solidFill>
                  <a:srgbClr val="FFFFFF"/>
                </a:solidFill>
                <a:latin typeface="Arial" pitchFamily="34" charset="0"/>
                <a:ea typeface="Arial" pitchFamily="34" charset="-122"/>
                <a:cs typeface="Arial" pitchFamily="34" charset="-120"/>
              </a:rPr>
              <a:t>• Timestamp-Derived Velocity: </a:t>
            </a:r>
            <a:pPr indent="0" marL="0">
              <a:lnSpc>
                <a:spcPts val="1500"/>
              </a:lnSpc>
              <a:buNone/>
            </a:pPr>
            <a:r>
              <a:rPr lang="en-US" sz="1050" dirty="0">
                <a:solidFill>
                  <a:srgbClr val="E2E8F0"/>
                </a:solidFill>
                <a:latin typeface="Arial" pitchFamily="34" charset="0"/>
                <a:ea typeface="Arial" pitchFamily="34" charset="-122"/>
                <a:cs typeface="Arial" pitchFamily="34" charset="-120"/>
              </a:rPr>
              <a:t>Calculates vehicle speed using camera calibration matrix and monotonic PTS timestamps rather than unreliable declared FPS.
</a:t>
            </a:r>
            <a:pPr indent="0" marL="0">
              <a:lnSpc>
                <a:spcPts val="1500"/>
              </a:lnSpc>
              <a:buNone/>
            </a:pPr>
            <a:r>
              <a:rPr lang="en-US" sz="1050" b="1" dirty="0">
                <a:solidFill>
                  <a:srgbClr val="FFFFFF"/>
                </a:solidFill>
                <a:latin typeface="Arial" pitchFamily="34" charset="0"/>
                <a:ea typeface="Arial" pitchFamily="34" charset="-122"/>
                <a:cs typeface="Arial" pitchFamily="34" charset="-120"/>
              </a:rPr>
              <a:t>• Night &amp; Low-Contrast Enhancement: </a:t>
            </a:r>
            <a:pPr indent="0" marL="0">
              <a:lnSpc>
                <a:spcPts val="1500"/>
              </a:lnSpc>
              <a:buNone/>
            </a:pPr>
            <a:r>
              <a:rPr lang="en-US" sz="1050" dirty="0">
                <a:solidFill>
                  <a:srgbClr val="E2E8F0"/>
                </a:solidFill>
                <a:latin typeface="Arial" pitchFamily="34" charset="0"/>
                <a:ea typeface="Arial" pitchFamily="34" charset="-122"/>
                <a:cs typeface="Arial" pitchFamily="34" charset="-120"/>
              </a:rPr>
              <a:t>Adaptive CLAHE preprocessing for headlights glare and high-beam plate washout.
</a:t>
            </a:r>
            <a:pPr indent="0" marL="0">
              <a:lnSpc>
                <a:spcPts val="1500"/>
              </a:lnSpc>
              <a:buNone/>
            </a:pPr>
            <a:r>
              <a:rPr lang="en-US" sz="1050" b="1" dirty="0">
                <a:solidFill>
                  <a:srgbClr val="FFFFFF"/>
                </a:solidFill>
                <a:latin typeface="Arial" pitchFamily="34" charset="0"/>
                <a:ea typeface="Arial" pitchFamily="34" charset="-122"/>
                <a:cs typeface="Arial" pitchFamily="34" charset="-120"/>
              </a:rPr>
              <a:t>• False Positive Filtering: </a:t>
            </a:r>
            <a:pPr indent="0" marL="0">
              <a:lnSpc>
                <a:spcPts val="1500"/>
              </a:lnSpc>
              <a:buNone/>
            </a:pPr>
            <a:r>
              <a:rPr lang="en-US" sz="1050" dirty="0">
                <a:solidFill>
                  <a:srgbClr val="E2E8F0"/>
                </a:solidFill>
                <a:latin typeface="Arial" pitchFamily="34" charset="0"/>
                <a:ea typeface="Arial" pitchFamily="34" charset="-122"/>
                <a:cs typeface="Arial" pitchFamily="34" charset="-120"/>
              </a:rPr>
              <a:t>Context-aware heuristic validation rejecting billboards, bumper stickers, and phantom reflections.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7. Vehicle Traversal &amp; Route Reconstruction</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Demonstrating Test Scenario with GJ-01-AB-1234 &amp; GJ-05-CD-5678</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8 of 16</a:t>
            </a:r>
            <a:endParaRPr lang="en-US" sz="900" dirty="0"/>
          </a:p>
        </p:txBody>
      </p:sp>
      <p:sp>
        <p:nvSpPr>
          <p:cNvPr id="9" name="Shape 6"/>
          <p:cNvSpPr/>
          <p:nvPr/>
        </p:nvSpPr>
        <p:spPr>
          <a:xfrm>
            <a:off x="548640" y="1371600"/>
            <a:ext cx="6217920" cy="4754880"/>
          </a:xfrm>
          <a:prstGeom prst="roundRect">
            <a:avLst/>
          </a:prstGeom>
          <a:solidFill>
            <a:srgbClr val="FFFFFF"/>
          </a:solidFill>
          <a:ln w="19050">
            <a:solidFill>
              <a:srgbClr val="CBD5E1"/>
            </a:solidFill>
            <a:prstDash val="solid"/>
          </a:ln>
        </p:spPr>
      </p:sp>
      <p:sp>
        <p:nvSpPr>
          <p:cNvPr id="10" name="Text 7"/>
          <p:cNvSpPr/>
          <p:nvPr/>
        </p:nvSpPr>
        <p:spPr>
          <a:xfrm>
            <a:off x="822960" y="1600200"/>
            <a:ext cx="5669280" cy="320040"/>
          </a:xfrm>
          <a:prstGeom prst="rect">
            <a:avLst/>
          </a:prstGeom>
          <a:noFill/>
          <a:ln/>
        </p:spPr>
        <p:txBody>
          <a:bodyPr wrap="square" rtlCol="0" anchor="ctr"/>
          <a:lstStyle/>
          <a:p>
            <a:pPr indent="0" marL="0">
              <a:buNone/>
            </a:pPr>
            <a:r>
              <a:rPr lang="en-US" sz="1500" b="1" dirty="0">
                <a:solidFill>
                  <a:srgbClr val="002347"/>
                </a:solidFill>
                <a:latin typeface="Arial" pitchFamily="34" charset="0"/>
                <a:ea typeface="Arial" pitchFamily="34" charset="-122"/>
                <a:cs typeface="Arial" pitchFamily="34" charset="-120"/>
              </a:rPr>
              <a:t>Chronological Traversal Route (GJ-01-AB-1234)</a:t>
            </a:r>
            <a:endParaRPr lang="en-US" sz="1500" dirty="0"/>
          </a:p>
        </p:txBody>
      </p:sp>
      <p:sp>
        <p:nvSpPr>
          <p:cNvPr id="11" name="Shape 8"/>
          <p:cNvSpPr/>
          <p:nvPr/>
        </p:nvSpPr>
        <p:spPr>
          <a:xfrm>
            <a:off x="822960" y="2057400"/>
            <a:ext cx="5669280" cy="777240"/>
          </a:xfrm>
          <a:prstGeom prst="rect">
            <a:avLst/>
          </a:prstGeom>
          <a:solidFill>
            <a:srgbClr val="F1F5F9"/>
          </a:solidFill>
          <a:ln w="12700">
            <a:solidFill>
              <a:srgbClr val="CBD5E1"/>
            </a:solidFill>
            <a:prstDash val="solid"/>
          </a:ln>
        </p:spPr>
      </p:sp>
      <p:sp>
        <p:nvSpPr>
          <p:cNvPr id="12" name="Text 9"/>
          <p:cNvSpPr/>
          <p:nvPr/>
        </p:nvSpPr>
        <p:spPr>
          <a:xfrm>
            <a:off x="1005840" y="2148840"/>
            <a:ext cx="1097280" cy="274320"/>
          </a:xfrm>
          <a:prstGeom prst="rect">
            <a:avLst/>
          </a:prstGeom>
          <a:noFill/>
          <a:ln/>
        </p:spPr>
        <p:txBody>
          <a:bodyPr wrap="square" rtlCol="0" anchor="ctr"/>
          <a:lstStyle/>
          <a:p>
            <a:pPr indent="0" marL="0">
              <a:buNone/>
            </a:pPr>
            <a:r>
              <a:rPr lang="en-US" sz="1100" b="1" dirty="0">
                <a:solidFill>
                  <a:srgbClr val="002347"/>
                </a:solidFill>
                <a:latin typeface="Arial" pitchFamily="34" charset="0"/>
                <a:ea typeface="Arial" pitchFamily="34" charset="-122"/>
                <a:cs typeface="Arial" pitchFamily="34" charset="-120"/>
              </a:rPr>
              <a:t>08:14:22</a:t>
            </a:r>
            <a:endParaRPr lang="en-US" sz="1100" dirty="0"/>
          </a:p>
        </p:txBody>
      </p:sp>
      <p:sp>
        <p:nvSpPr>
          <p:cNvPr id="13" name="Text 10"/>
          <p:cNvSpPr/>
          <p:nvPr/>
        </p:nvSpPr>
        <p:spPr>
          <a:xfrm>
            <a:off x="2194560" y="2148840"/>
            <a:ext cx="32004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CAM-AHM-01 • S.G. Highway, Ahmedabad</a:t>
            </a:r>
            <a:endParaRPr lang="en-US" sz="1100" dirty="0"/>
          </a:p>
        </p:txBody>
      </p:sp>
      <p:sp>
        <p:nvSpPr>
          <p:cNvPr id="14" name="Text 11"/>
          <p:cNvSpPr/>
          <p:nvPr/>
        </p:nvSpPr>
        <p:spPr>
          <a:xfrm>
            <a:off x="2194560" y="2468880"/>
            <a:ext cx="182880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Speed: 68 km/h</a:t>
            </a:r>
            <a:endParaRPr lang="en-US" sz="1000" dirty="0"/>
          </a:p>
        </p:txBody>
      </p:sp>
      <p:sp>
        <p:nvSpPr>
          <p:cNvPr id="15" name="Text 12"/>
          <p:cNvSpPr/>
          <p:nvPr/>
        </p:nvSpPr>
        <p:spPr>
          <a:xfrm>
            <a:off x="4389120" y="2468880"/>
            <a:ext cx="1920240" cy="228600"/>
          </a:xfrm>
          <a:prstGeom prst="rect">
            <a:avLst/>
          </a:prstGeom>
          <a:noFill/>
          <a:ln/>
        </p:spPr>
        <p:txBody>
          <a:bodyPr wrap="square" rtlCol="0" anchor="ctr"/>
          <a:lstStyle/>
          <a:p>
            <a:pPr algn="r" indent="0" marL="0">
              <a:buNone/>
            </a:pPr>
            <a:r>
              <a:rPr lang="en-US" sz="1000" b="1" dirty="0">
                <a:solidFill>
                  <a:srgbClr val="059669"/>
                </a:solidFill>
                <a:latin typeface="Arial" pitchFamily="34" charset="0"/>
                <a:ea typeface="Arial" pitchFamily="34" charset="-122"/>
                <a:cs typeface="Arial" pitchFamily="34" charset="-120"/>
              </a:rPr>
              <a:t>In Transit</a:t>
            </a:r>
            <a:endParaRPr lang="en-US" sz="1000" dirty="0"/>
          </a:p>
        </p:txBody>
      </p:sp>
      <p:sp>
        <p:nvSpPr>
          <p:cNvPr id="16" name="Shape 13"/>
          <p:cNvSpPr/>
          <p:nvPr/>
        </p:nvSpPr>
        <p:spPr>
          <a:xfrm>
            <a:off x="822960" y="2971800"/>
            <a:ext cx="5669280" cy="777240"/>
          </a:xfrm>
          <a:prstGeom prst="rect">
            <a:avLst/>
          </a:prstGeom>
          <a:solidFill>
            <a:srgbClr val="F1F5F9"/>
          </a:solidFill>
          <a:ln w="12700">
            <a:solidFill>
              <a:srgbClr val="CBD5E1"/>
            </a:solidFill>
            <a:prstDash val="solid"/>
          </a:ln>
        </p:spPr>
      </p:sp>
      <p:sp>
        <p:nvSpPr>
          <p:cNvPr id="17" name="Text 14"/>
          <p:cNvSpPr/>
          <p:nvPr/>
        </p:nvSpPr>
        <p:spPr>
          <a:xfrm>
            <a:off x="1005840" y="3063240"/>
            <a:ext cx="1097280" cy="274320"/>
          </a:xfrm>
          <a:prstGeom prst="rect">
            <a:avLst/>
          </a:prstGeom>
          <a:noFill/>
          <a:ln/>
        </p:spPr>
        <p:txBody>
          <a:bodyPr wrap="square" rtlCol="0" anchor="ctr"/>
          <a:lstStyle/>
          <a:p>
            <a:pPr indent="0" marL="0">
              <a:buNone/>
            </a:pPr>
            <a:r>
              <a:rPr lang="en-US" sz="1100" b="1" dirty="0">
                <a:solidFill>
                  <a:srgbClr val="002347"/>
                </a:solidFill>
                <a:latin typeface="Arial" pitchFamily="34" charset="0"/>
                <a:ea typeface="Arial" pitchFamily="34" charset="-122"/>
                <a:cs typeface="Arial" pitchFamily="34" charset="-120"/>
              </a:rPr>
              <a:t>08:42:10</a:t>
            </a:r>
            <a:endParaRPr lang="en-US" sz="1100" dirty="0"/>
          </a:p>
        </p:txBody>
      </p:sp>
      <p:sp>
        <p:nvSpPr>
          <p:cNvPr id="18" name="Text 15"/>
          <p:cNvSpPr/>
          <p:nvPr/>
        </p:nvSpPr>
        <p:spPr>
          <a:xfrm>
            <a:off x="2194560" y="3063240"/>
            <a:ext cx="32004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CAM-GND-04 • Chiloda Circle, Gandhinagar</a:t>
            </a:r>
            <a:endParaRPr lang="en-US" sz="1100" dirty="0"/>
          </a:p>
        </p:txBody>
      </p:sp>
      <p:sp>
        <p:nvSpPr>
          <p:cNvPr id="19" name="Text 16"/>
          <p:cNvSpPr/>
          <p:nvPr/>
        </p:nvSpPr>
        <p:spPr>
          <a:xfrm>
            <a:off x="2194560" y="3383280"/>
            <a:ext cx="182880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Speed: 74 km/h</a:t>
            </a:r>
            <a:endParaRPr lang="en-US" sz="1000" dirty="0"/>
          </a:p>
        </p:txBody>
      </p:sp>
      <p:sp>
        <p:nvSpPr>
          <p:cNvPr id="20" name="Text 17"/>
          <p:cNvSpPr/>
          <p:nvPr/>
        </p:nvSpPr>
        <p:spPr>
          <a:xfrm>
            <a:off x="4389120" y="3383280"/>
            <a:ext cx="1920240" cy="228600"/>
          </a:xfrm>
          <a:prstGeom prst="rect">
            <a:avLst/>
          </a:prstGeom>
          <a:noFill/>
          <a:ln/>
        </p:spPr>
        <p:txBody>
          <a:bodyPr wrap="square" rtlCol="0" anchor="ctr"/>
          <a:lstStyle/>
          <a:p>
            <a:pPr algn="r" indent="0" marL="0">
              <a:buNone/>
            </a:pPr>
            <a:r>
              <a:rPr lang="en-US" sz="1000" b="1" dirty="0">
                <a:solidFill>
                  <a:srgbClr val="059669"/>
                </a:solidFill>
                <a:latin typeface="Arial" pitchFamily="34" charset="0"/>
                <a:ea typeface="Arial" pitchFamily="34" charset="-122"/>
                <a:cs typeface="Arial" pitchFamily="34" charset="-120"/>
              </a:rPr>
              <a:t>In Transit</a:t>
            </a:r>
            <a:endParaRPr lang="en-US" sz="1000" dirty="0"/>
          </a:p>
        </p:txBody>
      </p:sp>
      <p:sp>
        <p:nvSpPr>
          <p:cNvPr id="21" name="Shape 18"/>
          <p:cNvSpPr/>
          <p:nvPr/>
        </p:nvSpPr>
        <p:spPr>
          <a:xfrm>
            <a:off x="822960" y="3886200"/>
            <a:ext cx="5669280" cy="777240"/>
          </a:xfrm>
          <a:prstGeom prst="rect">
            <a:avLst/>
          </a:prstGeom>
          <a:solidFill>
            <a:srgbClr val="F1F5F9"/>
          </a:solidFill>
          <a:ln w="12700">
            <a:solidFill>
              <a:srgbClr val="CBD5E1"/>
            </a:solidFill>
            <a:prstDash val="solid"/>
          </a:ln>
        </p:spPr>
      </p:sp>
      <p:sp>
        <p:nvSpPr>
          <p:cNvPr id="22" name="Text 19"/>
          <p:cNvSpPr/>
          <p:nvPr/>
        </p:nvSpPr>
        <p:spPr>
          <a:xfrm>
            <a:off x="1005840" y="3977640"/>
            <a:ext cx="1097280" cy="274320"/>
          </a:xfrm>
          <a:prstGeom prst="rect">
            <a:avLst/>
          </a:prstGeom>
          <a:noFill/>
          <a:ln/>
        </p:spPr>
        <p:txBody>
          <a:bodyPr wrap="square" rtlCol="0" anchor="ctr"/>
          <a:lstStyle/>
          <a:p>
            <a:pPr indent="0" marL="0">
              <a:buNone/>
            </a:pPr>
            <a:r>
              <a:rPr lang="en-US" sz="1100" b="1" dirty="0">
                <a:solidFill>
                  <a:srgbClr val="002347"/>
                </a:solidFill>
                <a:latin typeface="Arial" pitchFamily="34" charset="0"/>
                <a:ea typeface="Arial" pitchFamily="34" charset="-122"/>
                <a:cs typeface="Arial" pitchFamily="34" charset="-120"/>
              </a:rPr>
              <a:t>09:15:38</a:t>
            </a:r>
            <a:endParaRPr lang="en-US" sz="1100" dirty="0"/>
          </a:p>
        </p:txBody>
      </p:sp>
      <p:sp>
        <p:nvSpPr>
          <p:cNvPr id="23" name="Text 20"/>
          <p:cNvSpPr/>
          <p:nvPr/>
        </p:nvSpPr>
        <p:spPr>
          <a:xfrm>
            <a:off x="2194560" y="3977640"/>
            <a:ext cx="32004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CAM-VAD-08 • Golden Chokdi, Vadodara</a:t>
            </a:r>
            <a:endParaRPr lang="en-US" sz="1100" dirty="0"/>
          </a:p>
        </p:txBody>
      </p:sp>
      <p:sp>
        <p:nvSpPr>
          <p:cNvPr id="24" name="Text 21"/>
          <p:cNvSpPr/>
          <p:nvPr/>
        </p:nvSpPr>
        <p:spPr>
          <a:xfrm>
            <a:off x="2194560" y="4297680"/>
            <a:ext cx="182880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Speed: 82 km/h</a:t>
            </a:r>
            <a:endParaRPr lang="en-US" sz="1000" dirty="0"/>
          </a:p>
        </p:txBody>
      </p:sp>
      <p:sp>
        <p:nvSpPr>
          <p:cNvPr id="25" name="Text 22"/>
          <p:cNvSpPr/>
          <p:nvPr/>
        </p:nvSpPr>
        <p:spPr>
          <a:xfrm>
            <a:off x="4389120" y="4297680"/>
            <a:ext cx="1920240" cy="228600"/>
          </a:xfrm>
          <a:prstGeom prst="rect">
            <a:avLst/>
          </a:prstGeom>
          <a:noFill/>
          <a:ln/>
        </p:spPr>
        <p:txBody>
          <a:bodyPr wrap="square" rtlCol="0" anchor="ctr"/>
          <a:lstStyle/>
          <a:p>
            <a:pPr algn="r" indent="0" marL="0">
              <a:buNone/>
            </a:pPr>
            <a:r>
              <a:rPr lang="en-US" sz="1000" b="1" dirty="0">
                <a:solidFill>
                  <a:srgbClr val="059669"/>
                </a:solidFill>
                <a:latin typeface="Arial" pitchFamily="34" charset="0"/>
                <a:ea typeface="Arial" pitchFamily="34" charset="-122"/>
                <a:cs typeface="Arial" pitchFamily="34" charset="-120"/>
              </a:rPr>
              <a:t>Intercept Alert</a:t>
            </a:r>
            <a:endParaRPr lang="en-US" sz="1000" dirty="0"/>
          </a:p>
        </p:txBody>
      </p:sp>
      <p:sp>
        <p:nvSpPr>
          <p:cNvPr id="26" name="Shape 23"/>
          <p:cNvSpPr/>
          <p:nvPr/>
        </p:nvSpPr>
        <p:spPr>
          <a:xfrm>
            <a:off x="822960" y="4800600"/>
            <a:ext cx="5669280" cy="777240"/>
          </a:xfrm>
          <a:prstGeom prst="rect">
            <a:avLst/>
          </a:prstGeom>
          <a:solidFill>
            <a:srgbClr val="FEF2F2"/>
          </a:solidFill>
          <a:ln w="12700">
            <a:solidFill>
              <a:srgbClr val="DC2626"/>
            </a:solidFill>
            <a:prstDash val="solid"/>
          </a:ln>
        </p:spPr>
      </p:sp>
      <p:sp>
        <p:nvSpPr>
          <p:cNvPr id="27" name="Text 24"/>
          <p:cNvSpPr/>
          <p:nvPr/>
        </p:nvSpPr>
        <p:spPr>
          <a:xfrm>
            <a:off x="1005840" y="4892040"/>
            <a:ext cx="1097280" cy="274320"/>
          </a:xfrm>
          <a:prstGeom prst="rect">
            <a:avLst/>
          </a:prstGeom>
          <a:noFill/>
          <a:ln/>
        </p:spPr>
        <p:txBody>
          <a:bodyPr wrap="square" rtlCol="0" anchor="ctr"/>
          <a:lstStyle/>
          <a:p>
            <a:pPr indent="0" marL="0">
              <a:buNone/>
            </a:pPr>
            <a:r>
              <a:rPr lang="en-US" sz="1100" b="1" dirty="0">
                <a:solidFill>
                  <a:srgbClr val="002347"/>
                </a:solidFill>
                <a:latin typeface="Arial" pitchFamily="34" charset="0"/>
                <a:ea typeface="Arial" pitchFamily="34" charset="-122"/>
                <a:cs typeface="Arial" pitchFamily="34" charset="-120"/>
              </a:rPr>
              <a:t>09:48:55</a:t>
            </a:r>
            <a:endParaRPr lang="en-US" sz="1100" dirty="0"/>
          </a:p>
        </p:txBody>
      </p:sp>
      <p:sp>
        <p:nvSpPr>
          <p:cNvPr id="28" name="Text 25"/>
          <p:cNvSpPr/>
          <p:nvPr/>
        </p:nvSpPr>
        <p:spPr>
          <a:xfrm>
            <a:off x="2194560" y="4892040"/>
            <a:ext cx="32004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CAM-SUR-02 • Sahara Darwaja, Surat</a:t>
            </a:r>
            <a:endParaRPr lang="en-US" sz="1100" dirty="0"/>
          </a:p>
        </p:txBody>
      </p:sp>
      <p:sp>
        <p:nvSpPr>
          <p:cNvPr id="29" name="Text 26"/>
          <p:cNvSpPr/>
          <p:nvPr/>
        </p:nvSpPr>
        <p:spPr>
          <a:xfrm>
            <a:off x="2194560" y="5212080"/>
            <a:ext cx="182880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Speed: 42 km/h</a:t>
            </a:r>
            <a:endParaRPr lang="en-US" sz="1000" dirty="0"/>
          </a:p>
        </p:txBody>
      </p:sp>
      <p:sp>
        <p:nvSpPr>
          <p:cNvPr id="30" name="Text 27"/>
          <p:cNvSpPr/>
          <p:nvPr/>
        </p:nvSpPr>
        <p:spPr>
          <a:xfrm>
            <a:off x="4389120" y="5212080"/>
            <a:ext cx="1920240" cy="228600"/>
          </a:xfrm>
          <a:prstGeom prst="rect">
            <a:avLst/>
          </a:prstGeom>
          <a:noFill/>
          <a:ln/>
        </p:spPr>
        <p:txBody>
          <a:bodyPr wrap="square" rtlCol="0" anchor="ctr"/>
          <a:lstStyle/>
          <a:p>
            <a:pPr algn="r" indent="0" marL="0">
              <a:buNone/>
            </a:pPr>
            <a:r>
              <a:rPr lang="en-US" sz="1000" b="1" dirty="0">
                <a:solidFill>
                  <a:srgbClr val="DC2626"/>
                </a:solidFill>
                <a:latin typeface="Arial" pitchFamily="34" charset="0"/>
                <a:ea typeface="Arial" pitchFamily="34" charset="-122"/>
                <a:cs typeface="Arial" pitchFamily="34" charset="-120"/>
              </a:rPr>
              <a:t>MATCH DETECTED</a:t>
            </a:r>
            <a:endParaRPr lang="en-US" sz="1000" dirty="0"/>
          </a:p>
        </p:txBody>
      </p:sp>
      <p:sp>
        <p:nvSpPr>
          <p:cNvPr id="31" name="Shape 28"/>
          <p:cNvSpPr/>
          <p:nvPr/>
        </p:nvSpPr>
        <p:spPr>
          <a:xfrm>
            <a:off x="7040880" y="1371600"/>
            <a:ext cx="4599432" cy="4754880"/>
          </a:xfrm>
          <a:prstGeom prst="roundRect">
            <a:avLst/>
          </a:prstGeom>
          <a:solidFill>
            <a:srgbClr val="FFFFFF"/>
          </a:solidFill>
          <a:ln w="19050">
            <a:solidFill>
              <a:srgbClr val="CBD5E1"/>
            </a:solidFill>
            <a:prstDash val="solid"/>
          </a:ln>
        </p:spPr>
      </p:sp>
      <p:sp>
        <p:nvSpPr>
          <p:cNvPr id="32" name="Text 29"/>
          <p:cNvSpPr/>
          <p:nvPr/>
        </p:nvSpPr>
        <p:spPr>
          <a:xfrm>
            <a:off x="7315200" y="1600200"/>
            <a:ext cx="4114800" cy="320040"/>
          </a:xfrm>
          <a:prstGeom prst="rect">
            <a:avLst/>
          </a:prstGeom>
          <a:noFill/>
          <a:ln/>
        </p:spPr>
        <p:txBody>
          <a:bodyPr wrap="square" rtlCol="0" anchor="ctr"/>
          <a:lstStyle/>
          <a:p>
            <a:pPr indent="0" marL="0">
              <a:buNone/>
            </a:pPr>
            <a:r>
              <a:rPr lang="en-US" sz="1500" b="1" dirty="0">
                <a:solidFill>
                  <a:srgbClr val="002347"/>
                </a:solidFill>
                <a:latin typeface="Arial" pitchFamily="34" charset="0"/>
                <a:ea typeface="Arial" pitchFamily="34" charset="-122"/>
                <a:cs typeface="Arial" pitchFamily="34" charset="-120"/>
              </a:rPr>
              <a:t>Core Forensic Capabilities</a:t>
            </a:r>
            <a:endParaRPr lang="en-US" sz="1500" dirty="0"/>
          </a:p>
        </p:txBody>
      </p:sp>
      <p:sp>
        <p:nvSpPr>
          <p:cNvPr id="33" name="Text 30"/>
          <p:cNvSpPr/>
          <p:nvPr/>
        </p:nvSpPr>
        <p:spPr>
          <a:xfrm>
            <a:off x="7315200" y="2011680"/>
            <a:ext cx="4114800" cy="3931920"/>
          </a:xfrm>
          <a:prstGeom prst="rect">
            <a:avLst/>
          </a:prstGeom>
          <a:noFill/>
          <a:ln/>
        </p:spPr>
        <p:txBody>
          <a:bodyPr wrap="square" rtlCol="0" anchor="ctr"/>
          <a:lstStyle/>
          <a:p>
            <a:pPr indent="0" marL="0">
              <a:lnSpc>
                <a:spcPts val="1500"/>
              </a:lnSpc>
              <a:buNone/>
            </a:pPr>
            <a:r>
              <a:rPr lang="en-US" sz="1050" b="1" dirty="0">
                <a:solidFill>
                  <a:srgbClr val="002347"/>
                </a:solidFill>
                <a:latin typeface="Arial" pitchFamily="34" charset="0"/>
                <a:ea typeface="Arial" pitchFamily="34" charset="-122"/>
                <a:cs typeface="Arial" pitchFamily="34" charset="-120"/>
              </a:rPr>
              <a:t>• Geospatial Path Stitching:
</a:t>
            </a:r>
            <a:pPr indent="0" marL="0">
              <a:lnSpc>
                <a:spcPts val="1500"/>
              </a:lnSpc>
              <a:buNone/>
            </a:pPr>
            <a:r>
              <a:rPr lang="en-US" sz="1050" dirty="0">
                <a:solidFill>
                  <a:srgbClr val="334155"/>
                </a:solidFill>
                <a:latin typeface="Arial" pitchFamily="34" charset="0"/>
                <a:ea typeface="Arial" pitchFamily="34" charset="-122"/>
                <a:cs typeface="Arial" pitchFamily="34" charset="-120"/>
              </a:rPr>
              <a:t>Connects discrete camera detections into a continuous GIS polyline displaying traversal vector and direction of travel.
</a:t>
            </a:r>
            <a:pPr indent="0" marL="0">
              <a:lnSpc>
                <a:spcPts val="1500"/>
              </a:lnSpc>
              <a:buNone/>
            </a:pPr>
            <a:r>
              <a:rPr lang="en-US" sz="1050" b="1" dirty="0">
                <a:solidFill>
                  <a:srgbClr val="002347"/>
                </a:solidFill>
                <a:latin typeface="Arial" pitchFamily="34" charset="0"/>
                <a:ea typeface="Arial" pitchFamily="34" charset="-122"/>
                <a:cs typeface="Arial" pitchFamily="34" charset="-120"/>
              </a:rPr>
              <a:t>• Time-Space Feasibility Checks:
</a:t>
            </a:r>
            <a:pPr indent="0" marL="0">
              <a:lnSpc>
                <a:spcPts val="1500"/>
              </a:lnSpc>
              <a:buNone/>
            </a:pPr>
            <a:r>
              <a:rPr lang="en-US" sz="1050" dirty="0">
                <a:solidFill>
                  <a:srgbClr val="334155"/>
                </a:solidFill>
                <a:latin typeface="Arial" pitchFamily="34" charset="0"/>
                <a:ea typeface="Arial" pitchFamily="34" charset="-122"/>
                <a:cs typeface="Arial" pitchFamily="34" charset="-120"/>
              </a:rPr>
              <a:t>Flags cloned license plates if the same plate appears at two distant locations within an impossible timeframe.
</a:t>
            </a:r>
            <a:pPr indent="0" marL="0">
              <a:lnSpc>
                <a:spcPts val="1500"/>
              </a:lnSpc>
              <a:buNone/>
            </a:pPr>
            <a:r>
              <a:rPr lang="en-US" sz="1050" b="1" dirty="0">
                <a:solidFill>
                  <a:srgbClr val="002347"/>
                </a:solidFill>
                <a:latin typeface="Arial" pitchFamily="34" charset="0"/>
                <a:ea typeface="Arial" pitchFamily="34" charset="-122"/>
                <a:cs typeface="Arial" pitchFamily="34" charset="-120"/>
              </a:rPr>
              <a:t>• Traversal Playback Timeline:
</a:t>
            </a:r>
            <a:pPr indent="0" marL="0">
              <a:lnSpc>
                <a:spcPts val="1500"/>
              </a:lnSpc>
              <a:buNone/>
            </a:pPr>
            <a:r>
              <a:rPr lang="en-US" sz="1050" dirty="0">
                <a:solidFill>
                  <a:srgbClr val="334155"/>
                </a:solidFill>
                <a:latin typeface="Arial" pitchFamily="34" charset="0"/>
                <a:ea typeface="Arial" pitchFamily="34" charset="-122"/>
                <a:cs typeface="Arial" pitchFamily="34" charset="-120"/>
              </a:rPr>
              <a:t>Interactive scrubbing allows investigating officers to replay the vehicle journey minute by minute.
</a:t>
            </a:r>
            <a:pPr indent="0" marL="0">
              <a:lnSpc>
                <a:spcPts val="1500"/>
              </a:lnSpc>
              <a:buNone/>
            </a:pPr>
            <a:r>
              <a:rPr lang="en-US" sz="1050" b="1" dirty="0">
                <a:solidFill>
                  <a:srgbClr val="002347"/>
                </a:solidFill>
                <a:latin typeface="Arial" pitchFamily="34" charset="0"/>
                <a:ea typeface="Arial" pitchFamily="34" charset="-122"/>
                <a:cs typeface="Arial" pitchFamily="34" charset="-120"/>
              </a:rPr>
              <a:t>• Immediate Sector Intercept:
</a:t>
            </a:r>
            <a:pPr indent="0" marL="0">
              <a:lnSpc>
                <a:spcPts val="1500"/>
              </a:lnSpc>
              <a:buNone/>
            </a:pPr>
            <a:r>
              <a:rPr lang="en-US" sz="1050" dirty="0">
                <a:solidFill>
                  <a:srgbClr val="334155"/>
                </a:solidFill>
                <a:latin typeface="Arial" pitchFamily="34" charset="0"/>
                <a:ea typeface="Arial" pitchFamily="34" charset="-122"/>
                <a:cs typeface="Arial" pitchFamily="34" charset="-120"/>
              </a:rPr>
              <a:t>Predicts next likely toll plaza or intersection for proactive highway patrol roadblock dispatch.</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8. Watchlist Cross-Referencing &amp; Alert Dispatch</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Real-Time Integration with VAHAN, SARTHI, eGujCop &amp; NAFIS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9 of 16</a:t>
            </a:r>
            <a:endParaRPr lang="en-US" sz="900" dirty="0"/>
          </a:p>
        </p:txBody>
      </p:sp>
      <p:sp>
        <p:nvSpPr>
          <p:cNvPr id="9" name="Shape 6"/>
          <p:cNvSpPr/>
          <p:nvPr/>
        </p:nvSpPr>
        <p:spPr>
          <a:xfrm>
            <a:off x="548640" y="1371600"/>
            <a:ext cx="2651760" cy="1645920"/>
          </a:xfrm>
          <a:prstGeom prst="roundRect">
            <a:avLst/>
          </a:prstGeom>
          <a:solidFill>
            <a:srgbClr val="FFFFFF"/>
          </a:solidFill>
          <a:ln w="19050">
            <a:solidFill>
              <a:srgbClr val="CBD5E1"/>
            </a:solidFill>
            <a:prstDash val="solid"/>
          </a:ln>
        </p:spPr>
      </p:sp>
      <p:sp>
        <p:nvSpPr>
          <p:cNvPr id="10" name="Shape 7"/>
          <p:cNvSpPr/>
          <p:nvPr/>
        </p:nvSpPr>
        <p:spPr>
          <a:xfrm>
            <a:off x="548640" y="1371600"/>
            <a:ext cx="2651760" cy="91440"/>
          </a:xfrm>
          <a:prstGeom prst="rect">
            <a:avLst/>
          </a:prstGeom>
          <a:solidFill>
            <a:srgbClr val="0284C7"/>
          </a:solidFill>
          <a:ln/>
        </p:spPr>
      </p:sp>
      <p:sp>
        <p:nvSpPr>
          <p:cNvPr id="11" name="Text 8"/>
          <p:cNvSpPr/>
          <p:nvPr/>
        </p:nvSpPr>
        <p:spPr>
          <a:xfrm>
            <a:off x="731520" y="1554480"/>
            <a:ext cx="2286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VAHAN / SARTHI</a:t>
            </a:r>
            <a:endParaRPr lang="en-US" sz="1300" dirty="0"/>
          </a:p>
        </p:txBody>
      </p:sp>
      <p:sp>
        <p:nvSpPr>
          <p:cNvPr id="12" name="Text 9"/>
          <p:cNvSpPr/>
          <p:nvPr/>
        </p:nvSpPr>
        <p:spPr>
          <a:xfrm>
            <a:off x="731520" y="1920240"/>
            <a:ext cx="2286000" cy="457200"/>
          </a:xfrm>
          <a:prstGeom prst="rect">
            <a:avLst/>
          </a:prstGeom>
          <a:noFill/>
          <a:ln/>
        </p:spPr>
        <p:txBody>
          <a:bodyPr wrap="square" rtlCol="0" anchor="ctr"/>
          <a:lstStyle/>
          <a:p>
            <a:pPr indent="0" marL="0">
              <a:buNone/>
            </a:pPr>
            <a:r>
              <a:rPr lang="en-US" sz="1050" dirty="0">
                <a:solidFill>
                  <a:srgbClr val="334155"/>
                </a:solidFill>
                <a:latin typeface="Arial" pitchFamily="34" charset="0"/>
                <a:ea typeface="Arial" pitchFamily="34" charset="-122"/>
                <a:cs typeface="Arial" pitchFamily="34" charset="-120"/>
              </a:rPr>
              <a:t>Stolen &amp; Blacklisted Vehicles</a:t>
            </a:r>
            <a:endParaRPr lang="en-US" sz="1050" dirty="0"/>
          </a:p>
        </p:txBody>
      </p:sp>
      <p:sp>
        <p:nvSpPr>
          <p:cNvPr id="13" name="Text 10"/>
          <p:cNvSpPr/>
          <p:nvPr/>
        </p:nvSpPr>
        <p:spPr>
          <a:xfrm>
            <a:off x="731520" y="2514600"/>
            <a:ext cx="2286000" cy="320040"/>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1.8M Records Synchronized</a:t>
            </a:r>
            <a:endParaRPr lang="en-US" sz="950" dirty="0"/>
          </a:p>
        </p:txBody>
      </p:sp>
      <p:sp>
        <p:nvSpPr>
          <p:cNvPr id="14" name="Shape 11"/>
          <p:cNvSpPr/>
          <p:nvPr/>
        </p:nvSpPr>
        <p:spPr>
          <a:xfrm>
            <a:off x="3364992" y="1371600"/>
            <a:ext cx="2651760" cy="1645920"/>
          </a:xfrm>
          <a:prstGeom prst="roundRect">
            <a:avLst/>
          </a:prstGeom>
          <a:solidFill>
            <a:srgbClr val="FFFFFF"/>
          </a:solidFill>
          <a:ln w="19050">
            <a:solidFill>
              <a:srgbClr val="CBD5E1"/>
            </a:solidFill>
            <a:prstDash val="solid"/>
          </a:ln>
        </p:spPr>
      </p:sp>
      <p:sp>
        <p:nvSpPr>
          <p:cNvPr id="15" name="Shape 12"/>
          <p:cNvSpPr/>
          <p:nvPr/>
        </p:nvSpPr>
        <p:spPr>
          <a:xfrm>
            <a:off x="3364992" y="1371600"/>
            <a:ext cx="2651760" cy="91440"/>
          </a:xfrm>
          <a:prstGeom prst="rect">
            <a:avLst/>
          </a:prstGeom>
          <a:solidFill>
            <a:srgbClr val="0284C7"/>
          </a:solidFill>
          <a:ln/>
        </p:spPr>
      </p:sp>
      <p:sp>
        <p:nvSpPr>
          <p:cNvPr id="16" name="Text 13"/>
          <p:cNvSpPr/>
          <p:nvPr/>
        </p:nvSpPr>
        <p:spPr>
          <a:xfrm>
            <a:off x="3547872" y="1554480"/>
            <a:ext cx="2286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eGujCop (CCTNS)</a:t>
            </a:r>
            <a:endParaRPr lang="en-US" sz="1300" dirty="0"/>
          </a:p>
        </p:txBody>
      </p:sp>
      <p:sp>
        <p:nvSpPr>
          <p:cNvPr id="17" name="Text 14"/>
          <p:cNvSpPr/>
          <p:nvPr/>
        </p:nvSpPr>
        <p:spPr>
          <a:xfrm>
            <a:off x="3547872" y="1920240"/>
            <a:ext cx="2286000" cy="457200"/>
          </a:xfrm>
          <a:prstGeom prst="rect">
            <a:avLst/>
          </a:prstGeom>
          <a:noFill/>
          <a:ln/>
        </p:spPr>
        <p:txBody>
          <a:bodyPr wrap="square" rtlCol="0" anchor="ctr"/>
          <a:lstStyle/>
          <a:p>
            <a:pPr indent="0" marL="0">
              <a:buNone/>
            </a:pPr>
            <a:r>
              <a:rPr lang="en-US" sz="1050" dirty="0">
                <a:solidFill>
                  <a:srgbClr val="334155"/>
                </a:solidFill>
                <a:latin typeface="Arial" pitchFamily="34" charset="0"/>
                <a:ea typeface="Arial" pitchFamily="34" charset="-122"/>
                <a:cs typeface="Arial" pitchFamily="34" charset="-120"/>
              </a:rPr>
              <a:t>Wanted Criminals &amp; FIR Suspects</a:t>
            </a:r>
            <a:endParaRPr lang="en-US" sz="1050" dirty="0"/>
          </a:p>
        </p:txBody>
      </p:sp>
      <p:sp>
        <p:nvSpPr>
          <p:cNvPr id="18" name="Text 15"/>
          <p:cNvSpPr/>
          <p:nvPr/>
        </p:nvSpPr>
        <p:spPr>
          <a:xfrm>
            <a:off x="3547872" y="2514600"/>
            <a:ext cx="2286000" cy="320040"/>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Real-time SCRB API Webhook</a:t>
            </a:r>
            <a:endParaRPr lang="en-US" sz="950" dirty="0"/>
          </a:p>
        </p:txBody>
      </p:sp>
      <p:sp>
        <p:nvSpPr>
          <p:cNvPr id="19" name="Shape 16"/>
          <p:cNvSpPr/>
          <p:nvPr/>
        </p:nvSpPr>
        <p:spPr>
          <a:xfrm>
            <a:off x="6181344" y="1371600"/>
            <a:ext cx="2651760" cy="1645920"/>
          </a:xfrm>
          <a:prstGeom prst="roundRect">
            <a:avLst/>
          </a:prstGeom>
          <a:solidFill>
            <a:srgbClr val="FFFFFF"/>
          </a:solidFill>
          <a:ln w="19050">
            <a:solidFill>
              <a:srgbClr val="CBD5E1"/>
            </a:solidFill>
            <a:prstDash val="solid"/>
          </a:ln>
        </p:spPr>
      </p:sp>
      <p:sp>
        <p:nvSpPr>
          <p:cNvPr id="20" name="Shape 17"/>
          <p:cNvSpPr/>
          <p:nvPr/>
        </p:nvSpPr>
        <p:spPr>
          <a:xfrm>
            <a:off x="6181344" y="1371600"/>
            <a:ext cx="2651760" cy="91440"/>
          </a:xfrm>
          <a:prstGeom prst="rect">
            <a:avLst/>
          </a:prstGeom>
          <a:solidFill>
            <a:srgbClr val="0284C7"/>
          </a:solidFill>
          <a:ln/>
        </p:spPr>
      </p:sp>
      <p:sp>
        <p:nvSpPr>
          <p:cNvPr id="21" name="Text 18"/>
          <p:cNvSpPr/>
          <p:nvPr/>
        </p:nvSpPr>
        <p:spPr>
          <a:xfrm>
            <a:off x="6364224" y="1554480"/>
            <a:ext cx="2286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Missing Persons</a:t>
            </a:r>
            <a:endParaRPr lang="en-US" sz="1300" dirty="0"/>
          </a:p>
        </p:txBody>
      </p:sp>
      <p:sp>
        <p:nvSpPr>
          <p:cNvPr id="22" name="Text 19"/>
          <p:cNvSpPr/>
          <p:nvPr/>
        </p:nvSpPr>
        <p:spPr>
          <a:xfrm>
            <a:off x="6364224" y="1920240"/>
            <a:ext cx="2286000" cy="457200"/>
          </a:xfrm>
          <a:prstGeom prst="rect">
            <a:avLst/>
          </a:prstGeom>
          <a:noFill/>
          <a:ln/>
        </p:spPr>
        <p:txBody>
          <a:bodyPr wrap="square" rtlCol="0" anchor="ctr"/>
          <a:lstStyle/>
          <a:p>
            <a:pPr indent="0" marL="0">
              <a:buNone/>
            </a:pPr>
            <a:r>
              <a:rPr lang="en-US" sz="1050" dirty="0">
                <a:solidFill>
                  <a:srgbClr val="334155"/>
                </a:solidFill>
                <a:latin typeface="Arial" pitchFamily="34" charset="0"/>
                <a:ea typeface="Arial" pitchFamily="34" charset="-122"/>
                <a:cs typeface="Arial" pitchFamily="34" charset="-120"/>
              </a:rPr>
              <a:t>Child &amp; Vulnerable Tracking</a:t>
            </a:r>
            <a:endParaRPr lang="en-US" sz="1050" dirty="0"/>
          </a:p>
        </p:txBody>
      </p:sp>
      <p:sp>
        <p:nvSpPr>
          <p:cNvPr id="23" name="Text 20"/>
          <p:cNvSpPr/>
          <p:nvPr/>
        </p:nvSpPr>
        <p:spPr>
          <a:xfrm>
            <a:off x="6364224" y="2514600"/>
            <a:ext cx="2286000" cy="320040"/>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Statewide Urgent Notice Feed</a:t>
            </a:r>
            <a:endParaRPr lang="en-US" sz="950" dirty="0"/>
          </a:p>
        </p:txBody>
      </p:sp>
      <p:sp>
        <p:nvSpPr>
          <p:cNvPr id="24" name="Shape 21"/>
          <p:cNvSpPr/>
          <p:nvPr/>
        </p:nvSpPr>
        <p:spPr>
          <a:xfrm>
            <a:off x="8997696" y="1371600"/>
            <a:ext cx="2651760" cy="1645920"/>
          </a:xfrm>
          <a:prstGeom prst="roundRect">
            <a:avLst/>
          </a:prstGeom>
          <a:solidFill>
            <a:srgbClr val="FFFFFF"/>
          </a:solidFill>
          <a:ln w="19050">
            <a:solidFill>
              <a:srgbClr val="CBD5E1"/>
            </a:solidFill>
            <a:prstDash val="solid"/>
          </a:ln>
        </p:spPr>
      </p:sp>
      <p:sp>
        <p:nvSpPr>
          <p:cNvPr id="25" name="Shape 22"/>
          <p:cNvSpPr/>
          <p:nvPr/>
        </p:nvSpPr>
        <p:spPr>
          <a:xfrm>
            <a:off x="8997696" y="1371600"/>
            <a:ext cx="2651760" cy="91440"/>
          </a:xfrm>
          <a:prstGeom prst="rect">
            <a:avLst/>
          </a:prstGeom>
          <a:solidFill>
            <a:srgbClr val="0284C7"/>
          </a:solidFill>
          <a:ln/>
        </p:spPr>
      </p:sp>
      <p:sp>
        <p:nvSpPr>
          <p:cNvPr id="26" name="Text 23"/>
          <p:cNvSpPr/>
          <p:nvPr/>
        </p:nvSpPr>
        <p:spPr>
          <a:xfrm>
            <a:off x="9180576" y="1554480"/>
            <a:ext cx="2286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Custom Hotlists</a:t>
            </a:r>
            <a:endParaRPr lang="en-US" sz="1300" dirty="0"/>
          </a:p>
        </p:txBody>
      </p:sp>
      <p:sp>
        <p:nvSpPr>
          <p:cNvPr id="27" name="Text 24"/>
          <p:cNvSpPr/>
          <p:nvPr/>
        </p:nvSpPr>
        <p:spPr>
          <a:xfrm>
            <a:off x="9180576" y="1920240"/>
            <a:ext cx="2286000" cy="457200"/>
          </a:xfrm>
          <a:prstGeom prst="rect">
            <a:avLst/>
          </a:prstGeom>
          <a:noFill/>
          <a:ln/>
        </p:spPr>
        <p:txBody>
          <a:bodyPr wrap="square" rtlCol="0" anchor="ctr"/>
          <a:lstStyle/>
          <a:p>
            <a:pPr indent="0" marL="0">
              <a:buNone/>
            </a:pPr>
            <a:r>
              <a:rPr lang="en-US" sz="1050" dirty="0">
                <a:solidFill>
                  <a:srgbClr val="334155"/>
                </a:solidFill>
                <a:latin typeface="Arial" pitchFamily="34" charset="0"/>
                <a:ea typeface="Arial" pitchFamily="34" charset="-122"/>
                <a:cs typeface="Arial" pitchFamily="34" charset="-120"/>
              </a:rPr>
              <a:t>Special Operations &amp; VIP Security</a:t>
            </a:r>
            <a:endParaRPr lang="en-US" sz="1050" dirty="0"/>
          </a:p>
        </p:txBody>
      </p:sp>
      <p:sp>
        <p:nvSpPr>
          <p:cNvPr id="28" name="Text 25"/>
          <p:cNvSpPr/>
          <p:nvPr/>
        </p:nvSpPr>
        <p:spPr>
          <a:xfrm>
            <a:off x="9180576" y="2514600"/>
            <a:ext cx="2286000" cy="320040"/>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Dynamic Field Unit Watchlists</a:t>
            </a:r>
            <a:endParaRPr lang="en-US" sz="950" dirty="0"/>
          </a:p>
        </p:txBody>
      </p:sp>
      <p:sp>
        <p:nvSpPr>
          <p:cNvPr id="29" name="Shape 26"/>
          <p:cNvSpPr/>
          <p:nvPr/>
        </p:nvSpPr>
        <p:spPr>
          <a:xfrm>
            <a:off x="548640" y="3246120"/>
            <a:ext cx="11091672" cy="2926080"/>
          </a:xfrm>
          <a:prstGeom prst="roundRect">
            <a:avLst/>
          </a:prstGeom>
          <a:solidFill>
            <a:srgbClr val="FFFFFF"/>
          </a:solidFill>
          <a:ln w="25400">
            <a:solidFill>
              <a:srgbClr val="DC2626"/>
            </a:solidFill>
            <a:prstDash val="solid"/>
          </a:ln>
        </p:spPr>
      </p:sp>
      <p:sp>
        <p:nvSpPr>
          <p:cNvPr id="30" name="Text 27"/>
          <p:cNvSpPr/>
          <p:nvPr/>
        </p:nvSpPr>
        <p:spPr>
          <a:xfrm>
            <a:off x="822960" y="3429000"/>
            <a:ext cx="10515600" cy="320040"/>
          </a:xfrm>
          <a:prstGeom prst="rect">
            <a:avLst/>
          </a:prstGeom>
          <a:noFill/>
          <a:ln/>
        </p:spPr>
        <p:txBody>
          <a:bodyPr wrap="square" rtlCol="0" anchor="ctr"/>
          <a:lstStyle/>
          <a:p>
            <a:pPr indent="0" marL="0">
              <a:buNone/>
            </a:pPr>
            <a:r>
              <a:rPr lang="en-US" sz="1500" b="1" dirty="0">
                <a:solidFill>
                  <a:srgbClr val="DC2626"/>
                </a:solidFill>
                <a:latin typeface="Arial" pitchFamily="34" charset="0"/>
                <a:ea typeface="Arial" pitchFamily="34" charset="-122"/>
                <a:cs typeface="Arial" pitchFamily="34" charset="-120"/>
              </a:rPr>
              <a:t>Sub-Second Automated Alert Dispatch Workflow:</a:t>
            </a:r>
            <a:endParaRPr lang="en-US" sz="1500" dirty="0"/>
          </a:p>
        </p:txBody>
      </p:sp>
      <p:sp>
        <p:nvSpPr>
          <p:cNvPr id="31" name="Text 28"/>
          <p:cNvSpPr/>
          <p:nvPr/>
        </p:nvSpPr>
        <p:spPr>
          <a:xfrm>
            <a:off x="822960" y="3840480"/>
            <a:ext cx="10515600" cy="2103120"/>
          </a:xfrm>
          <a:prstGeom prst="rect">
            <a:avLst/>
          </a:prstGeom>
          <a:noFill/>
          <a:ln/>
        </p:spPr>
        <p:txBody>
          <a:bodyPr wrap="square" rtlCol="0" anchor="ctr"/>
          <a:lstStyle/>
          <a:p>
            <a:pPr indent="0" marL="0">
              <a:lnSpc>
                <a:spcPts val="1800"/>
              </a:lnSpc>
              <a:buNone/>
            </a:pPr>
            <a:r>
              <a:rPr lang="en-US" sz="1100" b="1" dirty="0">
                <a:solidFill>
                  <a:srgbClr val="002347"/>
                </a:solidFill>
                <a:latin typeface="Arial" pitchFamily="34" charset="0"/>
                <a:ea typeface="Arial" pitchFamily="34" charset="-122"/>
                <a:cs typeface="Arial" pitchFamily="34" charset="-120"/>
              </a:rPr>
              <a:t>1. Millisecond Redis In-Memory Lookup: </a:t>
            </a:r>
            <a:pPr indent="0" marL="0">
              <a:lnSpc>
                <a:spcPts val="1800"/>
              </a:lnSpc>
              <a:buNone/>
            </a:pPr>
            <a:r>
              <a:rPr lang="en-US" sz="1100" dirty="0">
                <a:solidFill>
                  <a:srgbClr val="334155"/>
                </a:solidFill>
                <a:latin typeface="Arial" pitchFamily="34" charset="0"/>
                <a:ea typeface="Arial" pitchFamily="34" charset="-122"/>
                <a:cs typeface="Arial" pitchFamily="34" charset="-120"/>
              </a:rPr>
              <a:t>Every detected plate is matched against an in-memory Bloom filter and Redis hash ring in under 12 milliseconds.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2. Priority Audio-Visual Notification: </a:t>
            </a:r>
            <a:pPr indent="0" marL="0">
              <a:lnSpc>
                <a:spcPts val="1800"/>
              </a:lnSpc>
              <a:buNone/>
            </a:pPr>
            <a:r>
              <a:rPr lang="en-US" sz="1100" dirty="0">
                <a:solidFill>
                  <a:srgbClr val="334155"/>
                </a:solidFill>
                <a:latin typeface="Arial" pitchFamily="34" charset="0"/>
                <a:ea typeface="Arial" pitchFamily="34" charset="-122"/>
                <a:cs typeface="Arial" pitchFamily="34" charset="-120"/>
              </a:rPr>
              <a:t>Immediate high-priority strobe alert and audio dispatch tone emitted across police command center terminals.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3. Automated Field Unit Dispatch: </a:t>
            </a:r>
            <a:pPr indent="0" marL="0">
              <a:lnSpc>
                <a:spcPts val="1800"/>
              </a:lnSpc>
              <a:buNone/>
            </a:pPr>
            <a:r>
              <a:rPr lang="en-US" sz="1100" dirty="0">
                <a:solidFill>
                  <a:srgbClr val="334155"/>
                </a:solidFill>
                <a:latin typeface="Arial" pitchFamily="34" charset="0"/>
                <a:ea typeface="Arial" pitchFamily="34" charset="-122"/>
                <a:cs typeface="Arial" pitchFamily="34" charset="-120"/>
              </a:rPr>
              <a:t>Pushes real-time alerts with snapshot, location coordinates, and suspect dossier to nearest PCR vans via mobile MDTs.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4. Multi-Department Notification: </a:t>
            </a:r>
            <a:pPr indent="0" marL="0">
              <a:lnSpc>
                <a:spcPts val="1800"/>
              </a:lnSpc>
              <a:buNone/>
            </a:pPr>
            <a:r>
              <a:rPr lang="en-US" sz="1100" dirty="0">
                <a:solidFill>
                  <a:srgbClr val="334155"/>
                </a:solidFill>
                <a:latin typeface="Arial" pitchFamily="34" charset="0"/>
                <a:ea typeface="Arial" pitchFamily="34" charset="-122"/>
                <a:cs typeface="Arial" pitchFamily="34" charset="-120"/>
              </a:rPr>
              <a:t>Broadcasts intercept notification to adjacent district police controls to coordinate highway toll barrier closures.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9. Legal &amp; Evidentiary Integrity</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Section 65B Indian Evidence Act Certified Forensic Dossiers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10 of 16</a:t>
            </a:r>
            <a:endParaRPr lang="en-US" sz="900" dirty="0"/>
          </a:p>
        </p:txBody>
      </p:sp>
      <p:sp>
        <p:nvSpPr>
          <p:cNvPr id="9" name="Shape 6"/>
          <p:cNvSpPr/>
          <p:nvPr/>
        </p:nvSpPr>
        <p:spPr>
          <a:xfrm>
            <a:off x="548640" y="1371600"/>
            <a:ext cx="11091672" cy="4754880"/>
          </a:xfrm>
          <a:prstGeom prst="roundRect">
            <a:avLst/>
          </a:prstGeom>
          <a:solidFill>
            <a:srgbClr val="FFFFFF"/>
          </a:solidFill>
          <a:ln w="19050">
            <a:solidFill>
              <a:srgbClr val="CBD5E1"/>
            </a:solidFill>
            <a:prstDash val="solid"/>
          </a:ln>
        </p:spPr>
      </p:sp>
      <p:sp>
        <p:nvSpPr>
          <p:cNvPr id="10" name="Text 7"/>
          <p:cNvSpPr/>
          <p:nvPr/>
        </p:nvSpPr>
        <p:spPr>
          <a:xfrm>
            <a:off x="822960" y="1645920"/>
            <a:ext cx="10515600" cy="365760"/>
          </a:xfrm>
          <a:prstGeom prst="rect">
            <a:avLst/>
          </a:prstGeom>
          <a:noFill/>
          <a:ln/>
        </p:spPr>
        <p:txBody>
          <a:bodyPr wrap="square" rtlCol="0" anchor="ctr"/>
          <a:lstStyle/>
          <a:p>
            <a:pPr indent="0" marL="0">
              <a:buNone/>
            </a:pPr>
            <a:r>
              <a:rPr lang="en-US" sz="1600" b="1" dirty="0">
                <a:solidFill>
                  <a:srgbClr val="002347"/>
                </a:solidFill>
                <a:latin typeface="Arial" pitchFamily="34" charset="0"/>
                <a:ea typeface="Arial" pitchFamily="34" charset="-122"/>
                <a:cs typeface="Arial" pitchFamily="34" charset="-120"/>
              </a:rPr>
              <a:t>Automated Legal Dossier Generation (Court-Admissible Electronic Evidence)</a:t>
            </a:r>
            <a:endParaRPr lang="en-US" sz="1600" dirty="0"/>
          </a:p>
        </p:txBody>
      </p:sp>
      <p:sp>
        <p:nvSpPr>
          <p:cNvPr id="11" name="Shape 8"/>
          <p:cNvSpPr/>
          <p:nvPr/>
        </p:nvSpPr>
        <p:spPr>
          <a:xfrm>
            <a:off x="822960" y="2240280"/>
            <a:ext cx="5029200" cy="1600200"/>
          </a:xfrm>
          <a:prstGeom prst="roundRect">
            <a:avLst/>
          </a:prstGeom>
          <a:solidFill>
            <a:srgbClr val="F1F5F9"/>
          </a:solidFill>
          <a:ln w="12700">
            <a:solidFill>
              <a:srgbClr val="0284C7"/>
            </a:solidFill>
            <a:prstDash val="solid"/>
          </a:ln>
        </p:spPr>
      </p:sp>
      <p:sp>
        <p:nvSpPr>
          <p:cNvPr id="12" name="Text 9"/>
          <p:cNvSpPr/>
          <p:nvPr/>
        </p:nvSpPr>
        <p:spPr>
          <a:xfrm>
            <a:off x="1051560" y="2377440"/>
            <a:ext cx="4572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Cryptographic SHA-256 Hashing</a:t>
            </a:r>
            <a:endParaRPr lang="en-US" sz="1300" dirty="0"/>
          </a:p>
        </p:txBody>
      </p:sp>
      <p:sp>
        <p:nvSpPr>
          <p:cNvPr id="13" name="Text 10"/>
          <p:cNvSpPr/>
          <p:nvPr/>
        </p:nvSpPr>
        <p:spPr>
          <a:xfrm>
            <a:off x="1051560" y="2743200"/>
            <a:ext cx="4572000" cy="96012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Each captured frame, video snippet, and metadata log is cryptographically hashed at the moment of ingestion to prove zero post-capture tampering.</a:t>
            </a:r>
            <a:endParaRPr lang="en-US" sz="1100" dirty="0"/>
          </a:p>
        </p:txBody>
      </p:sp>
      <p:sp>
        <p:nvSpPr>
          <p:cNvPr id="14" name="Shape 11"/>
          <p:cNvSpPr/>
          <p:nvPr/>
        </p:nvSpPr>
        <p:spPr>
          <a:xfrm>
            <a:off x="6126480" y="2240280"/>
            <a:ext cx="5029200" cy="1600200"/>
          </a:xfrm>
          <a:prstGeom prst="roundRect">
            <a:avLst/>
          </a:prstGeom>
          <a:solidFill>
            <a:srgbClr val="F1F5F9"/>
          </a:solidFill>
          <a:ln w="12700">
            <a:solidFill>
              <a:srgbClr val="0284C7"/>
            </a:solidFill>
            <a:prstDash val="solid"/>
          </a:ln>
        </p:spPr>
      </p:sp>
      <p:sp>
        <p:nvSpPr>
          <p:cNvPr id="15" name="Text 12"/>
          <p:cNvSpPr/>
          <p:nvPr/>
        </p:nvSpPr>
        <p:spPr>
          <a:xfrm>
            <a:off x="6355080" y="2377440"/>
            <a:ext cx="4572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Chain of Custody Timestamping</a:t>
            </a:r>
            <a:endParaRPr lang="en-US" sz="1300" dirty="0"/>
          </a:p>
        </p:txBody>
      </p:sp>
      <p:sp>
        <p:nvSpPr>
          <p:cNvPr id="16" name="Text 13"/>
          <p:cNvSpPr/>
          <p:nvPr/>
        </p:nvSpPr>
        <p:spPr>
          <a:xfrm>
            <a:off x="6355080" y="2743200"/>
            <a:ext cx="4572000" cy="96012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Strict append-only audit trail logging camera ID, IP address, GPS coordinates, operator viewing logs, and UTC/IST synchronization.</a:t>
            </a:r>
            <a:endParaRPr lang="en-US" sz="1100" dirty="0"/>
          </a:p>
        </p:txBody>
      </p:sp>
      <p:sp>
        <p:nvSpPr>
          <p:cNvPr id="17" name="Shape 14"/>
          <p:cNvSpPr/>
          <p:nvPr/>
        </p:nvSpPr>
        <p:spPr>
          <a:xfrm>
            <a:off x="822960" y="4069080"/>
            <a:ext cx="5029200" cy="1600200"/>
          </a:xfrm>
          <a:prstGeom prst="roundRect">
            <a:avLst/>
          </a:prstGeom>
          <a:solidFill>
            <a:srgbClr val="F1F5F9"/>
          </a:solidFill>
          <a:ln w="12700">
            <a:solidFill>
              <a:srgbClr val="0284C7"/>
            </a:solidFill>
            <a:prstDash val="solid"/>
          </a:ln>
        </p:spPr>
      </p:sp>
      <p:sp>
        <p:nvSpPr>
          <p:cNvPr id="18" name="Text 15"/>
          <p:cNvSpPr/>
          <p:nvPr/>
        </p:nvSpPr>
        <p:spPr>
          <a:xfrm>
            <a:off x="1051560" y="4206240"/>
            <a:ext cx="4572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Statutory Section 65B Certificate</a:t>
            </a:r>
            <a:endParaRPr lang="en-US" sz="1300" dirty="0"/>
          </a:p>
        </p:txBody>
      </p:sp>
      <p:sp>
        <p:nvSpPr>
          <p:cNvPr id="19" name="Text 16"/>
          <p:cNvSpPr/>
          <p:nvPr/>
        </p:nvSpPr>
        <p:spPr>
          <a:xfrm>
            <a:off x="1051560" y="4572000"/>
            <a:ext cx="4572000" cy="96012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Auto-generates the mandatory certificate signed by the officer in charge of computer systems under Section 65B(4) of Indian Evidence Act 1872.</a:t>
            </a:r>
            <a:endParaRPr lang="en-US" sz="1100" dirty="0"/>
          </a:p>
        </p:txBody>
      </p:sp>
      <p:sp>
        <p:nvSpPr>
          <p:cNvPr id="20" name="Shape 17"/>
          <p:cNvSpPr/>
          <p:nvPr/>
        </p:nvSpPr>
        <p:spPr>
          <a:xfrm>
            <a:off x="6126480" y="4069080"/>
            <a:ext cx="5029200" cy="1600200"/>
          </a:xfrm>
          <a:prstGeom prst="roundRect">
            <a:avLst/>
          </a:prstGeom>
          <a:solidFill>
            <a:srgbClr val="F1F5F9"/>
          </a:solidFill>
          <a:ln w="12700">
            <a:solidFill>
              <a:srgbClr val="0284C7"/>
            </a:solidFill>
            <a:prstDash val="solid"/>
          </a:ln>
        </p:spPr>
      </p:sp>
      <p:sp>
        <p:nvSpPr>
          <p:cNvPr id="21" name="Text 18"/>
          <p:cNvSpPr/>
          <p:nvPr/>
        </p:nvSpPr>
        <p:spPr>
          <a:xfrm>
            <a:off x="6355080" y="4206240"/>
            <a:ext cx="4572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One-Click PDF &amp; Print Export</a:t>
            </a:r>
            <a:endParaRPr lang="en-US" sz="1300" dirty="0"/>
          </a:p>
        </p:txBody>
      </p:sp>
      <p:sp>
        <p:nvSpPr>
          <p:cNvPr id="22" name="Text 19"/>
          <p:cNvSpPr/>
          <p:nvPr/>
        </p:nvSpPr>
        <p:spPr>
          <a:xfrm>
            <a:off x="6355080" y="4572000"/>
            <a:ext cx="4572000" cy="96012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Outputs standardized A4 printable dossiers with officer seal, high-res license plate crop, trajectory map, and verified hash digests.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10. Model 3: Multi-Vendor VMS Federation</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Adapter Middleware for Legacy &amp; Multi-Brand Interoperability</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11 of 16</a:t>
            </a:r>
            <a:endParaRPr lang="en-US" sz="900" dirty="0"/>
          </a:p>
        </p:txBody>
      </p:sp>
      <p:sp>
        <p:nvSpPr>
          <p:cNvPr id="9" name="Shape 6"/>
          <p:cNvSpPr/>
          <p:nvPr/>
        </p:nvSpPr>
        <p:spPr>
          <a:xfrm>
            <a:off x="548640" y="1371600"/>
            <a:ext cx="2651760" cy="1828800"/>
          </a:xfrm>
          <a:prstGeom prst="roundRect">
            <a:avLst/>
          </a:prstGeom>
          <a:solidFill>
            <a:srgbClr val="002347"/>
          </a:solidFill>
          <a:ln/>
        </p:spPr>
      </p:sp>
      <p:sp>
        <p:nvSpPr>
          <p:cNvPr id="10" name="Text 7"/>
          <p:cNvSpPr/>
          <p:nvPr/>
        </p:nvSpPr>
        <p:spPr>
          <a:xfrm>
            <a:off x="731520" y="1554480"/>
            <a:ext cx="22860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Hikvision NVR/iVMS</a:t>
            </a:r>
            <a:endParaRPr lang="en-US" sz="1300" dirty="0"/>
          </a:p>
        </p:txBody>
      </p:sp>
      <p:sp>
        <p:nvSpPr>
          <p:cNvPr id="11" name="Text 8"/>
          <p:cNvSpPr/>
          <p:nvPr/>
        </p:nvSpPr>
        <p:spPr>
          <a:xfrm>
            <a:off x="731520" y="1965960"/>
            <a:ext cx="2286000" cy="5943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ISAPI / RTSP / ONVIF Profile S/G/T</a:t>
            </a:r>
            <a:endParaRPr lang="en-US" sz="1050" dirty="0"/>
          </a:p>
        </p:txBody>
      </p:sp>
      <p:sp>
        <p:nvSpPr>
          <p:cNvPr id="12" name="Text 9"/>
          <p:cNvSpPr/>
          <p:nvPr/>
        </p:nvSpPr>
        <p:spPr>
          <a:xfrm>
            <a:off x="731520" y="2697480"/>
            <a:ext cx="2286000" cy="274320"/>
          </a:xfrm>
          <a:prstGeom prst="rect">
            <a:avLst/>
          </a:prstGeom>
          <a:noFill/>
          <a:ln/>
        </p:spPr>
        <p:txBody>
          <a:bodyPr wrap="square" rtlCol="0" anchor="ctr"/>
          <a:lstStyle/>
          <a:p>
            <a:pPr indent="0" marL="0">
              <a:buNone/>
            </a:pPr>
            <a:r>
              <a:rPr lang="en-US" sz="1000" b="1" dirty="0">
                <a:solidFill>
                  <a:srgbClr val="059669"/>
                </a:solidFill>
                <a:latin typeface="Arial" pitchFamily="34" charset="0"/>
                <a:ea typeface="Arial" pitchFamily="34" charset="-122"/>
                <a:cs typeface="Arial" pitchFamily="34" charset="-120"/>
              </a:rPr>
              <a:t>● Active Adapter</a:t>
            </a:r>
            <a:endParaRPr lang="en-US" sz="1000" dirty="0"/>
          </a:p>
        </p:txBody>
      </p:sp>
      <p:sp>
        <p:nvSpPr>
          <p:cNvPr id="13" name="Shape 10"/>
          <p:cNvSpPr/>
          <p:nvPr/>
        </p:nvSpPr>
        <p:spPr>
          <a:xfrm>
            <a:off x="3364992" y="1371600"/>
            <a:ext cx="2651760" cy="1828800"/>
          </a:xfrm>
          <a:prstGeom prst="roundRect">
            <a:avLst/>
          </a:prstGeom>
          <a:solidFill>
            <a:srgbClr val="002347"/>
          </a:solidFill>
          <a:ln/>
        </p:spPr>
      </p:sp>
      <p:sp>
        <p:nvSpPr>
          <p:cNvPr id="14" name="Text 11"/>
          <p:cNvSpPr/>
          <p:nvPr/>
        </p:nvSpPr>
        <p:spPr>
          <a:xfrm>
            <a:off x="3547872" y="1554480"/>
            <a:ext cx="22860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Dahua DSS / SmartPSS</a:t>
            </a:r>
            <a:endParaRPr lang="en-US" sz="1300" dirty="0"/>
          </a:p>
        </p:txBody>
      </p:sp>
      <p:sp>
        <p:nvSpPr>
          <p:cNvPr id="15" name="Text 12"/>
          <p:cNvSpPr/>
          <p:nvPr/>
        </p:nvSpPr>
        <p:spPr>
          <a:xfrm>
            <a:off x="3547872" y="1965960"/>
            <a:ext cx="2286000" cy="5943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DH-SDK / RTSP Stream Relay</a:t>
            </a:r>
            <a:endParaRPr lang="en-US" sz="1050" dirty="0"/>
          </a:p>
        </p:txBody>
      </p:sp>
      <p:sp>
        <p:nvSpPr>
          <p:cNvPr id="16" name="Text 13"/>
          <p:cNvSpPr/>
          <p:nvPr/>
        </p:nvSpPr>
        <p:spPr>
          <a:xfrm>
            <a:off x="3547872" y="2697480"/>
            <a:ext cx="2286000" cy="274320"/>
          </a:xfrm>
          <a:prstGeom prst="rect">
            <a:avLst/>
          </a:prstGeom>
          <a:noFill/>
          <a:ln/>
        </p:spPr>
        <p:txBody>
          <a:bodyPr wrap="square" rtlCol="0" anchor="ctr"/>
          <a:lstStyle/>
          <a:p>
            <a:pPr indent="0" marL="0">
              <a:buNone/>
            </a:pPr>
            <a:r>
              <a:rPr lang="en-US" sz="1000" b="1" dirty="0">
                <a:solidFill>
                  <a:srgbClr val="059669"/>
                </a:solidFill>
                <a:latin typeface="Arial" pitchFamily="34" charset="0"/>
                <a:ea typeface="Arial" pitchFamily="34" charset="-122"/>
                <a:cs typeface="Arial" pitchFamily="34" charset="-120"/>
              </a:rPr>
              <a:t>● Active Adapter</a:t>
            </a:r>
            <a:endParaRPr lang="en-US" sz="1000" dirty="0"/>
          </a:p>
        </p:txBody>
      </p:sp>
      <p:sp>
        <p:nvSpPr>
          <p:cNvPr id="17" name="Shape 14"/>
          <p:cNvSpPr/>
          <p:nvPr/>
        </p:nvSpPr>
        <p:spPr>
          <a:xfrm>
            <a:off x="6181344" y="1371600"/>
            <a:ext cx="2651760" cy="1828800"/>
          </a:xfrm>
          <a:prstGeom prst="roundRect">
            <a:avLst/>
          </a:prstGeom>
          <a:solidFill>
            <a:srgbClr val="002347"/>
          </a:solidFill>
          <a:ln/>
        </p:spPr>
      </p:sp>
      <p:sp>
        <p:nvSpPr>
          <p:cNvPr id="18" name="Text 15"/>
          <p:cNvSpPr/>
          <p:nvPr/>
        </p:nvSpPr>
        <p:spPr>
          <a:xfrm>
            <a:off x="6364224" y="1554480"/>
            <a:ext cx="22860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Milestone XProtect</a:t>
            </a:r>
            <a:endParaRPr lang="en-US" sz="1300" dirty="0"/>
          </a:p>
        </p:txBody>
      </p:sp>
      <p:sp>
        <p:nvSpPr>
          <p:cNvPr id="19" name="Text 16"/>
          <p:cNvSpPr/>
          <p:nvPr/>
        </p:nvSpPr>
        <p:spPr>
          <a:xfrm>
            <a:off x="6364224" y="1965960"/>
            <a:ext cx="2286000" cy="5943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MIP SDK / REST API Federation</a:t>
            </a:r>
            <a:endParaRPr lang="en-US" sz="1050" dirty="0"/>
          </a:p>
        </p:txBody>
      </p:sp>
      <p:sp>
        <p:nvSpPr>
          <p:cNvPr id="20" name="Text 17"/>
          <p:cNvSpPr/>
          <p:nvPr/>
        </p:nvSpPr>
        <p:spPr>
          <a:xfrm>
            <a:off x="6364224" y="2697480"/>
            <a:ext cx="2286000" cy="274320"/>
          </a:xfrm>
          <a:prstGeom prst="rect">
            <a:avLst/>
          </a:prstGeom>
          <a:noFill/>
          <a:ln/>
        </p:spPr>
        <p:txBody>
          <a:bodyPr wrap="square" rtlCol="0" anchor="ctr"/>
          <a:lstStyle/>
          <a:p>
            <a:pPr indent="0" marL="0">
              <a:buNone/>
            </a:pPr>
            <a:r>
              <a:rPr lang="en-US" sz="1000" b="1" dirty="0">
                <a:solidFill>
                  <a:srgbClr val="059669"/>
                </a:solidFill>
                <a:latin typeface="Arial" pitchFamily="34" charset="0"/>
                <a:ea typeface="Arial" pitchFamily="34" charset="-122"/>
                <a:cs typeface="Arial" pitchFamily="34" charset="-120"/>
              </a:rPr>
              <a:t>● Active Adapter</a:t>
            </a:r>
            <a:endParaRPr lang="en-US" sz="1000" dirty="0"/>
          </a:p>
        </p:txBody>
      </p:sp>
      <p:sp>
        <p:nvSpPr>
          <p:cNvPr id="21" name="Shape 18"/>
          <p:cNvSpPr/>
          <p:nvPr/>
        </p:nvSpPr>
        <p:spPr>
          <a:xfrm>
            <a:off x="8997696" y="1371600"/>
            <a:ext cx="2651760" cy="1828800"/>
          </a:xfrm>
          <a:prstGeom prst="roundRect">
            <a:avLst/>
          </a:prstGeom>
          <a:solidFill>
            <a:srgbClr val="002347"/>
          </a:solidFill>
          <a:ln/>
        </p:spPr>
      </p:sp>
      <p:sp>
        <p:nvSpPr>
          <p:cNvPr id="22" name="Text 19"/>
          <p:cNvSpPr/>
          <p:nvPr/>
        </p:nvSpPr>
        <p:spPr>
          <a:xfrm>
            <a:off x="9180576" y="1554480"/>
            <a:ext cx="22860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Honeywell / CP Plus</a:t>
            </a:r>
            <a:endParaRPr lang="en-US" sz="1300" dirty="0"/>
          </a:p>
        </p:txBody>
      </p:sp>
      <p:sp>
        <p:nvSpPr>
          <p:cNvPr id="23" name="Text 20"/>
          <p:cNvSpPr/>
          <p:nvPr/>
        </p:nvSpPr>
        <p:spPr>
          <a:xfrm>
            <a:off x="9180576" y="1965960"/>
            <a:ext cx="2286000" cy="5943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ONVIF / H.264/H.265 Transcoding</a:t>
            </a:r>
            <a:endParaRPr lang="en-US" sz="1050" dirty="0"/>
          </a:p>
        </p:txBody>
      </p:sp>
      <p:sp>
        <p:nvSpPr>
          <p:cNvPr id="24" name="Text 21"/>
          <p:cNvSpPr/>
          <p:nvPr/>
        </p:nvSpPr>
        <p:spPr>
          <a:xfrm>
            <a:off x="9180576" y="2697480"/>
            <a:ext cx="2286000" cy="274320"/>
          </a:xfrm>
          <a:prstGeom prst="rect">
            <a:avLst/>
          </a:prstGeom>
          <a:noFill/>
          <a:ln/>
        </p:spPr>
        <p:txBody>
          <a:bodyPr wrap="square" rtlCol="0" anchor="ctr"/>
          <a:lstStyle/>
          <a:p>
            <a:pPr indent="0" marL="0">
              <a:buNone/>
            </a:pPr>
            <a:r>
              <a:rPr lang="en-US" sz="1000" b="1" dirty="0">
                <a:solidFill>
                  <a:srgbClr val="059669"/>
                </a:solidFill>
                <a:latin typeface="Arial" pitchFamily="34" charset="0"/>
                <a:ea typeface="Arial" pitchFamily="34" charset="-122"/>
                <a:cs typeface="Arial" pitchFamily="34" charset="-120"/>
              </a:rPr>
              <a:t>● Active Adapter</a:t>
            </a:r>
            <a:endParaRPr lang="en-US" sz="1000" dirty="0"/>
          </a:p>
        </p:txBody>
      </p:sp>
      <p:sp>
        <p:nvSpPr>
          <p:cNvPr id="25" name="Shape 22"/>
          <p:cNvSpPr/>
          <p:nvPr/>
        </p:nvSpPr>
        <p:spPr>
          <a:xfrm>
            <a:off x="548640" y="3429000"/>
            <a:ext cx="11091672" cy="2743200"/>
          </a:xfrm>
          <a:prstGeom prst="roundRect">
            <a:avLst/>
          </a:prstGeom>
          <a:solidFill>
            <a:srgbClr val="FFFFFF"/>
          </a:solidFill>
          <a:ln w="19050">
            <a:solidFill>
              <a:srgbClr val="CBD5E1"/>
            </a:solidFill>
            <a:prstDash val="solid"/>
          </a:ln>
        </p:spPr>
      </p:sp>
      <p:sp>
        <p:nvSpPr>
          <p:cNvPr id="26" name="Text 23"/>
          <p:cNvSpPr/>
          <p:nvPr/>
        </p:nvSpPr>
        <p:spPr>
          <a:xfrm>
            <a:off x="822960" y="3611880"/>
            <a:ext cx="10515600" cy="320040"/>
          </a:xfrm>
          <a:prstGeom prst="rect">
            <a:avLst/>
          </a:prstGeom>
          <a:noFill/>
          <a:ln/>
        </p:spPr>
        <p:txBody>
          <a:bodyPr wrap="square" rtlCol="0" anchor="ctr"/>
          <a:lstStyle/>
          <a:p>
            <a:pPr indent="0" marL="0">
              <a:buNone/>
            </a:pPr>
            <a:r>
              <a:rPr lang="en-US" sz="1500" b="1" dirty="0">
                <a:solidFill>
                  <a:srgbClr val="002347"/>
                </a:solidFill>
                <a:latin typeface="Arial" pitchFamily="34" charset="0"/>
                <a:ea typeface="Arial" pitchFamily="34" charset="-122"/>
                <a:cs typeface="Arial" pitchFamily="34" charset="-120"/>
              </a:rPr>
              <a:t>Extensible Adapter Architecture:</a:t>
            </a:r>
            <a:endParaRPr lang="en-US" sz="1500" dirty="0"/>
          </a:p>
        </p:txBody>
      </p:sp>
      <p:sp>
        <p:nvSpPr>
          <p:cNvPr id="27" name="Text 24"/>
          <p:cNvSpPr/>
          <p:nvPr/>
        </p:nvSpPr>
        <p:spPr>
          <a:xfrm>
            <a:off x="822960" y="4023360"/>
            <a:ext cx="10515600" cy="1920240"/>
          </a:xfrm>
          <a:prstGeom prst="rect">
            <a:avLst/>
          </a:prstGeom>
          <a:noFill/>
          <a:ln/>
        </p:spPr>
        <p:txBody>
          <a:bodyPr wrap="square" rtlCol="0" anchor="ctr"/>
          <a:lstStyle/>
          <a:p>
            <a:pPr indent="0" marL="0">
              <a:lnSpc>
                <a:spcPts val="1600"/>
              </a:lnSpc>
              <a:buNone/>
            </a:pPr>
            <a:r>
              <a:rPr lang="en-US" sz="1100" b="1" dirty="0">
                <a:solidFill>
                  <a:srgbClr val="002347"/>
                </a:solidFill>
                <a:latin typeface="Arial" pitchFamily="34" charset="0"/>
                <a:ea typeface="Arial" pitchFamily="34" charset="-122"/>
                <a:cs typeface="Arial" pitchFamily="34" charset="-120"/>
              </a:rPr>
              <a:t>• Zero Hardware Replacement: </a:t>
            </a:r>
            <a:pPr indent="0" marL="0">
              <a:lnSpc>
                <a:spcPts val="1600"/>
              </a:lnSpc>
              <a:buNone/>
            </a:pPr>
            <a:r>
              <a:rPr lang="en-US" sz="1100" dirty="0">
                <a:solidFill>
                  <a:srgbClr val="334155"/>
                </a:solidFill>
                <a:latin typeface="Arial" pitchFamily="34" charset="0"/>
                <a:ea typeface="Arial" pitchFamily="34" charset="-122"/>
                <a:cs typeface="Arial" pitchFamily="34" charset="-120"/>
              </a:rPr>
              <a:t>Departments keep their existing cameras, local storage, and AMC contractors without modification.
</a:t>
            </a:r>
            <a:pPr indent="0" marL="0">
              <a:lnSpc>
                <a:spcPts val="1600"/>
              </a:lnSpc>
              <a:buNone/>
            </a:pPr>
            <a:r>
              <a:rPr lang="en-US" sz="1100" b="1" dirty="0">
                <a:solidFill>
                  <a:srgbClr val="002347"/>
                </a:solidFill>
                <a:latin typeface="Arial" pitchFamily="34" charset="0"/>
                <a:ea typeface="Arial" pitchFamily="34" charset="-122"/>
                <a:cs typeface="Arial" pitchFamily="34" charset="-120"/>
              </a:rPr>
              <a:t>• Standardized Output Contract: </a:t>
            </a:r>
            <a:pPr indent="0" marL="0">
              <a:lnSpc>
                <a:spcPts val="1600"/>
              </a:lnSpc>
              <a:buNone/>
            </a:pPr>
            <a:r>
              <a:rPr lang="en-US" sz="1100" dirty="0">
                <a:solidFill>
                  <a:srgbClr val="334155"/>
                </a:solidFill>
                <a:latin typeface="Arial" pitchFamily="34" charset="0"/>
                <a:ea typeface="Arial" pitchFamily="34" charset="-122"/>
                <a:cs typeface="Arial" pitchFamily="34" charset="-120"/>
              </a:rPr>
              <a:t>All vendor-specific protocols are converted into uniform WebRTC/HLS streams and JSON event telemetry.
</a:t>
            </a:r>
            <a:pPr indent="0" marL="0">
              <a:lnSpc>
                <a:spcPts val="1600"/>
              </a:lnSpc>
              <a:buNone/>
            </a:pPr>
            <a:r>
              <a:rPr lang="en-US" sz="1100" b="1" dirty="0">
                <a:solidFill>
                  <a:srgbClr val="002347"/>
                </a:solidFill>
                <a:latin typeface="Arial" pitchFamily="34" charset="0"/>
                <a:ea typeface="Arial" pitchFamily="34" charset="-122"/>
                <a:cs typeface="Arial" pitchFamily="34" charset="-120"/>
              </a:rPr>
              <a:t>• Bi-Directional PTZ Control: </a:t>
            </a:r>
            <a:pPr indent="0" marL="0">
              <a:lnSpc>
                <a:spcPts val="1600"/>
              </a:lnSpc>
              <a:buNone/>
            </a:pPr>
            <a:r>
              <a:rPr lang="en-US" sz="1100" dirty="0">
                <a:solidFill>
                  <a:srgbClr val="334155"/>
                </a:solidFill>
                <a:latin typeface="Arial" pitchFamily="34" charset="0"/>
                <a:ea typeface="Arial" pitchFamily="34" charset="-122"/>
                <a:cs typeface="Arial" pitchFamily="34" charset="-120"/>
              </a:rPr>
              <a:t>Authorized central command officers can control remote PTZ cameras across multiple vendor brands through one interface.
</a:t>
            </a:r>
            <a:pPr indent="0" marL="0">
              <a:lnSpc>
                <a:spcPts val="1600"/>
              </a:lnSpc>
              <a:buNone/>
            </a:pPr>
            <a:r>
              <a:rPr lang="en-US" sz="1100" b="1" dirty="0">
                <a:solidFill>
                  <a:srgbClr val="002347"/>
                </a:solidFill>
                <a:latin typeface="Arial" pitchFamily="34" charset="0"/>
                <a:ea typeface="Arial" pitchFamily="34" charset="-122"/>
                <a:cs typeface="Arial" pitchFamily="34" charset="-120"/>
              </a:rPr>
              <a:t>• Future-Proof Connector SDK: </a:t>
            </a:r>
            <a:pPr indent="0" marL="0">
              <a:lnSpc>
                <a:spcPts val="1600"/>
              </a:lnSpc>
              <a:buNone/>
            </a:pPr>
            <a:r>
              <a:rPr lang="en-US" sz="1100" dirty="0">
                <a:solidFill>
                  <a:srgbClr val="334155"/>
                </a:solidFill>
                <a:latin typeface="Arial" pitchFamily="34" charset="0"/>
                <a:ea typeface="Arial" pitchFamily="34" charset="-122"/>
                <a:cs typeface="Arial" pitchFamily="34" charset="-120"/>
              </a:rPr>
              <a:t>New camera manufacturers can be onboarded in days by writing a lightweight TypeScript adapter.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11. Scalability Blueprint to 80,000 Cameras</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Bandwidth Budgeting, Storage Tiers &amp; Edge Architecture</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12 of 16</a:t>
            </a:r>
            <a:endParaRPr lang="en-US" sz="900" dirty="0"/>
          </a:p>
        </p:txBody>
      </p:sp>
      <p:sp>
        <p:nvSpPr>
          <p:cNvPr id="9" name="Shape 6"/>
          <p:cNvSpPr/>
          <p:nvPr/>
        </p:nvSpPr>
        <p:spPr>
          <a:xfrm>
            <a:off x="548640" y="1371600"/>
            <a:ext cx="2651760" cy="1508760"/>
          </a:xfrm>
          <a:prstGeom prst="roundRect">
            <a:avLst/>
          </a:prstGeom>
          <a:solidFill>
            <a:srgbClr val="001830"/>
          </a:solidFill>
          <a:ln/>
        </p:spPr>
      </p:sp>
      <p:sp>
        <p:nvSpPr>
          <p:cNvPr id="10" name="Text 7"/>
          <p:cNvSpPr/>
          <p:nvPr/>
        </p:nvSpPr>
        <p:spPr>
          <a:xfrm>
            <a:off x="731520" y="1508760"/>
            <a:ext cx="2286000" cy="457200"/>
          </a:xfrm>
          <a:prstGeom prst="rect">
            <a:avLst/>
          </a:prstGeom>
          <a:noFill/>
          <a:ln/>
        </p:spPr>
        <p:txBody>
          <a:bodyPr wrap="square" rtlCol="0" anchor="ctr"/>
          <a:lstStyle/>
          <a:p>
            <a:pPr algn="ctr" indent="0" marL="0">
              <a:buNone/>
            </a:pPr>
            <a:r>
              <a:rPr lang="en-US" sz="2200" b="1" dirty="0">
                <a:solidFill>
                  <a:srgbClr val="0284C7"/>
                </a:solidFill>
                <a:latin typeface="Arial" pitchFamily="34" charset="0"/>
                <a:ea typeface="Arial" pitchFamily="34" charset="-122"/>
                <a:cs typeface="Arial" pitchFamily="34" charset="-120"/>
              </a:rPr>
              <a:t>80,000</a:t>
            </a:r>
            <a:endParaRPr lang="en-US" sz="2200" dirty="0"/>
          </a:p>
        </p:txBody>
      </p:sp>
      <p:sp>
        <p:nvSpPr>
          <p:cNvPr id="11" name="Text 8"/>
          <p:cNvSpPr/>
          <p:nvPr/>
        </p:nvSpPr>
        <p:spPr>
          <a:xfrm>
            <a:off x="731520"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Statewide Endpoints</a:t>
            </a:r>
            <a:endParaRPr lang="en-US" sz="1200" dirty="0"/>
          </a:p>
        </p:txBody>
      </p:sp>
      <p:sp>
        <p:nvSpPr>
          <p:cNvPr id="12" name="Text 9"/>
          <p:cNvSpPr/>
          <p:nvPr/>
        </p:nvSpPr>
        <p:spPr>
          <a:xfrm>
            <a:off x="731520"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Across 33 Gujarat Districts</a:t>
            </a:r>
            <a:endParaRPr lang="en-US" sz="950" dirty="0"/>
          </a:p>
        </p:txBody>
      </p:sp>
      <p:sp>
        <p:nvSpPr>
          <p:cNvPr id="13" name="Shape 10"/>
          <p:cNvSpPr/>
          <p:nvPr/>
        </p:nvSpPr>
        <p:spPr>
          <a:xfrm>
            <a:off x="3364992" y="1371600"/>
            <a:ext cx="2651760" cy="1508760"/>
          </a:xfrm>
          <a:prstGeom prst="roundRect">
            <a:avLst/>
          </a:prstGeom>
          <a:solidFill>
            <a:srgbClr val="001830"/>
          </a:solidFill>
          <a:ln/>
        </p:spPr>
      </p:sp>
      <p:sp>
        <p:nvSpPr>
          <p:cNvPr id="14" name="Text 11"/>
          <p:cNvSpPr/>
          <p:nvPr/>
        </p:nvSpPr>
        <p:spPr>
          <a:xfrm>
            <a:off x="3547872" y="1508760"/>
            <a:ext cx="2286000" cy="457200"/>
          </a:xfrm>
          <a:prstGeom prst="rect">
            <a:avLst/>
          </a:prstGeom>
          <a:noFill/>
          <a:ln/>
        </p:spPr>
        <p:txBody>
          <a:bodyPr wrap="square" rtlCol="0" anchor="ctr"/>
          <a:lstStyle/>
          <a:p>
            <a:pPr algn="ctr" indent="0" marL="0">
              <a:buNone/>
            </a:pPr>
            <a:r>
              <a:rPr lang="en-US" sz="2200" b="1" dirty="0">
                <a:solidFill>
                  <a:srgbClr val="0284C7"/>
                </a:solidFill>
                <a:latin typeface="Arial" pitchFamily="34" charset="0"/>
                <a:ea typeface="Arial" pitchFamily="34" charset="-122"/>
                <a:cs typeface="Arial" pitchFamily="34" charset="-120"/>
              </a:rPr>
              <a:t>6.4 Gbps</a:t>
            </a:r>
            <a:endParaRPr lang="en-US" sz="2200" dirty="0"/>
          </a:p>
        </p:txBody>
      </p:sp>
      <p:sp>
        <p:nvSpPr>
          <p:cNvPr id="15" name="Text 12"/>
          <p:cNvSpPr/>
          <p:nvPr/>
        </p:nvSpPr>
        <p:spPr>
          <a:xfrm>
            <a:off x="3547872"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Optimized Bandwidth</a:t>
            </a:r>
            <a:endParaRPr lang="en-US" sz="1200" dirty="0"/>
          </a:p>
        </p:txBody>
      </p:sp>
      <p:sp>
        <p:nvSpPr>
          <p:cNvPr id="16" name="Text 13"/>
          <p:cNvSpPr/>
          <p:nvPr/>
        </p:nvSpPr>
        <p:spPr>
          <a:xfrm>
            <a:off x="3547872"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Using Edge ANPR metadata push</a:t>
            </a:r>
            <a:endParaRPr lang="en-US" sz="950" dirty="0"/>
          </a:p>
        </p:txBody>
      </p:sp>
      <p:sp>
        <p:nvSpPr>
          <p:cNvPr id="17" name="Shape 14"/>
          <p:cNvSpPr/>
          <p:nvPr/>
        </p:nvSpPr>
        <p:spPr>
          <a:xfrm>
            <a:off x="6181344" y="1371600"/>
            <a:ext cx="2651760" cy="1508760"/>
          </a:xfrm>
          <a:prstGeom prst="roundRect">
            <a:avLst/>
          </a:prstGeom>
          <a:solidFill>
            <a:srgbClr val="001830"/>
          </a:solidFill>
          <a:ln/>
        </p:spPr>
      </p:sp>
      <p:sp>
        <p:nvSpPr>
          <p:cNvPr id="18" name="Text 15"/>
          <p:cNvSpPr/>
          <p:nvPr/>
        </p:nvSpPr>
        <p:spPr>
          <a:xfrm>
            <a:off x="6364224" y="1508760"/>
            <a:ext cx="2286000" cy="457200"/>
          </a:xfrm>
          <a:prstGeom prst="rect">
            <a:avLst/>
          </a:prstGeom>
          <a:noFill/>
          <a:ln/>
        </p:spPr>
        <p:txBody>
          <a:bodyPr wrap="square" rtlCol="0" anchor="ctr"/>
          <a:lstStyle/>
          <a:p>
            <a:pPr algn="ctr" indent="0" marL="0">
              <a:buNone/>
            </a:pPr>
            <a:r>
              <a:rPr lang="en-US" sz="2200" b="1" dirty="0">
                <a:solidFill>
                  <a:srgbClr val="0284C7"/>
                </a:solidFill>
                <a:latin typeface="Arial" pitchFamily="34" charset="0"/>
                <a:ea typeface="Arial" pitchFamily="34" charset="-122"/>
                <a:cs typeface="Arial" pitchFamily="34" charset="-120"/>
              </a:rPr>
              <a:t>3 Tiers</a:t>
            </a:r>
            <a:endParaRPr lang="en-US" sz="2200" dirty="0"/>
          </a:p>
        </p:txBody>
      </p:sp>
      <p:sp>
        <p:nvSpPr>
          <p:cNvPr id="19" name="Text 16"/>
          <p:cNvSpPr/>
          <p:nvPr/>
        </p:nvSpPr>
        <p:spPr>
          <a:xfrm>
            <a:off x="6364224"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Storage Architecture</a:t>
            </a:r>
            <a:endParaRPr lang="en-US" sz="1200" dirty="0"/>
          </a:p>
        </p:txBody>
      </p:sp>
      <p:sp>
        <p:nvSpPr>
          <p:cNvPr id="20" name="Text 17"/>
          <p:cNvSpPr/>
          <p:nvPr/>
        </p:nvSpPr>
        <p:spPr>
          <a:xfrm>
            <a:off x="6364224"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Hot (SSD) • Warm (NAS) • Cold (S3)</a:t>
            </a:r>
            <a:endParaRPr lang="en-US" sz="950" dirty="0"/>
          </a:p>
        </p:txBody>
      </p:sp>
      <p:sp>
        <p:nvSpPr>
          <p:cNvPr id="21" name="Shape 18"/>
          <p:cNvSpPr/>
          <p:nvPr/>
        </p:nvSpPr>
        <p:spPr>
          <a:xfrm>
            <a:off x="8997696" y="1371600"/>
            <a:ext cx="2651760" cy="1508760"/>
          </a:xfrm>
          <a:prstGeom prst="roundRect">
            <a:avLst/>
          </a:prstGeom>
          <a:solidFill>
            <a:srgbClr val="001830"/>
          </a:solidFill>
          <a:ln/>
        </p:spPr>
      </p:sp>
      <p:sp>
        <p:nvSpPr>
          <p:cNvPr id="22" name="Text 19"/>
          <p:cNvSpPr/>
          <p:nvPr/>
        </p:nvSpPr>
        <p:spPr>
          <a:xfrm>
            <a:off x="9180576" y="1508760"/>
            <a:ext cx="2286000" cy="457200"/>
          </a:xfrm>
          <a:prstGeom prst="rect">
            <a:avLst/>
          </a:prstGeom>
          <a:noFill/>
          <a:ln/>
        </p:spPr>
        <p:txBody>
          <a:bodyPr wrap="square" rtlCol="0" anchor="ctr"/>
          <a:lstStyle/>
          <a:p>
            <a:pPr algn="ctr" indent="0" marL="0">
              <a:buNone/>
            </a:pPr>
            <a:r>
              <a:rPr lang="en-US" sz="2200" b="1" dirty="0">
                <a:solidFill>
                  <a:srgbClr val="0284C7"/>
                </a:solidFill>
                <a:latin typeface="Arial" pitchFamily="34" charset="0"/>
                <a:ea typeface="Arial" pitchFamily="34" charset="-122"/>
                <a:cs typeface="Arial" pitchFamily="34" charset="-120"/>
              </a:rPr>
              <a:t>99.95%</a:t>
            </a:r>
            <a:endParaRPr lang="en-US" sz="2200" dirty="0"/>
          </a:p>
        </p:txBody>
      </p:sp>
      <p:sp>
        <p:nvSpPr>
          <p:cNvPr id="23" name="Text 20"/>
          <p:cNvSpPr/>
          <p:nvPr/>
        </p:nvSpPr>
        <p:spPr>
          <a:xfrm>
            <a:off x="9180576"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High Availability</a:t>
            </a:r>
            <a:endParaRPr lang="en-US" sz="1200" dirty="0"/>
          </a:p>
        </p:txBody>
      </p:sp>
      <p:sp>
        <p:nvSpPr>
          <p:cNvPr id="24" name="Text 21"/>
          <p:cNvSpPr/>
          <p:nvPr/>
        </p:nvSpPr>
        <p:spPr>
          <a:xfrm>
            <a:off x="9180576"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Multi-Zone Kubernetes Cluster</a:t>
            </a:r>
            <a:endParaRPr lang="en-US" sz="950" dirty="0"/>
          </a:p>
        </p:txBody>
      </p:sp>
      <p:sp>
        <p:nvSpPr>
          <p:cNvPr id="25" name="Shape 22"/>
          <p:cNvSpPr/>
          <p:nvPr/>
        </p:nvSpPr>
        <p:spPr>
          <a:xfrm>
            <a:off x="548640" y="3108960"/>
            <a:ext cx="11091672" cy="3063240"/>
          </a:xfrm>
          <a:prstGeom prst="roundRect">
            <a:avLst/>
          </a:prstGeom>
          <a:solidFill>
            <a:srgbClr val="FFFFFF"/>
          </a:solidFill>
          <a:ln w="19050">
            <a:solidFill>
              <a:srgbClr val="CBD5E1"/>
            </a:solidFill>
            <a:prstDash val="solid"/>
          </a:ln>
        </p:spPr>
      </p:sp>
      <p:sp>
        <p:nvSpPr>
          <p:cNvPr id="26" name="Text 23"/>
          <p:cNvSpPr/>
          <p:nvPr/>
        </p:nvSpPr>
        <p:spPr>
          <a:xfrm>
            <a:off x="822960" y="3291840"/>
            <a:ext cx="10515600" cy="320040"/>
          </a:xfrm>
          <a:prstGeom prst="rect">
            <a:avLst/>
          </a:prstGeom>
          <a:noFill/>
          <a:ln/>
        </p:spPr>
        <p:txBody>
          <a:bodyPr wrap="square" rtlCol="0" anchor="ctr"/>
          <a:lstStyle/>
          <a:p>
            <a:pPr indent="0" marL="0">
              <a:buNone/>
            </a:pPr>
            <a:r>
              <a:rPr lang="en-US" sz="1500" b="1" dirty="0">
                <a:solidFill>
                  <a:srgbClr val="002347"/>
                </a:solidFill>
                <a:latin typeface="Arial" pitchFamily="34" charset="0"/>
                <a:ea typeface="Arial" pitchFamily="34" charset="-122"/>
                <a:cs typeface="Arial" pitchFamily="34" charset="-120"/>
              </a:rPr>
              <a:t>Bandwidth &amp; Storage Optimization Strategy:</a:t>
            </a:r>
            <a:endParaRPr lang="en-US" sz="1500" dirty="0"/>
          </a:p>
        </p:txBody>
      </p:sp>
      <p:sp>
        <p:nvSpPr>
          <p:cNvPr id="27" name="Text 24"/>
          <p:cNvSpPr/>
          <p:nvPr/>
        </p:nvSpPr>
        <p:spPr>
          <a:xfrm>
            <a:off x="822960" y="3703320"/>
            <a:ext cx="10515600" cy="2286000"/>
          </a:xfrm>
          <a:prstGeom prst="rect">
            <a:avLst/>
          </a:prstGeom>
          <a:noFill/>
          <a:ln/>
        </p:spPr>
        <p:txBody>
          <a:bodyPr wrap="square" rtlCol="0" anchor="ctr"/>
          <a:lstStyle/>
          <a:p>
            <a:pPr indent="0" marL="0">
              <a:lnSpc>
                <a:spcPts val="1700"/>
              </a:lnSpc>
              <a:buNone/>
            </a:pPr>
            <a:r>
              <a:rPr lang="en-US" sz="1100" b="1" dirty="0">
                <a:solidFill>
                  <a:srgbClr val="002347"/>
                </a:solidFill>
                <a:latin typeface="Arial" pitchFamily="34" charset="0"/>
                <a:ea typeface="Arial" pitchFamily="34" charset="-122"/>
                <a:cs typeface="Arial" pitchFamily="34" charset="-120"/>
              </a:rPr>
              <a:t>• Edge Inference (Metadata-Only Push): </a:t>
            </a:r>
            <a:pPr indent="0" marL="0">
              <a:lnSpc>
                <a:spcPts val="1700"/>
              </a:lnSpc>
              <a:buNone/>
            </a:pPr>
            <a:r>
              <a:rPr lang="en-US" sz="1100" dirty="0">
                <a:solidFill>
                  <a:srgbClr val="334155"/>
                </a:solidFill>
                <a:latin typeface="Arial" pitchFamily="34" charset="0"/>
                <a:ea typeface="Arial" pitchFamily="34" charset="-122"/>
                <a:cs typeface="Arial" pitchFamily="34" charset="-120"/>
              </a:rPr>
              <a:t>Rather than streaming 80,000 raw 4K feeds continuously (which would overwhelm 160 Gbps of backbone WAN), edge nodes perform local ANPR and only stream lightweight metadata (2 KB/event). Raw video is fetched on-demand.
</a:t>
            </a:r>
            <a:pPr indent="0" marL="0">
              <a:lnSpc>
                <a:spcPts val="1700"/>
              </a:lnSpc>
              <a:buNone/>
            </a:pPr>
            <a:r>
              <a:rPr lang="en-US" sz="1100" b="1" dirty="0">
                <a:solidFill>
                  <a:srgbClr val="002347"/>
                </a:solidFill>
                <a:latin typeface="Arial" pitchFamily="34" charset="0"/>
                <a:ea typeface="Arial" pitchFamily="34" charset="-122"/>
                <a:cs typeface="Arial" pitchFamily="34" charset="-120"/>
              </a:rPr>
              <a:t>• Tiered Storage Policy: </a:t>
            </a:r>
            <a:pPr indent="0" marL="0">
              <a:lnSpc>
                <a:spcPts val="1700"/>
              </a:lnSpc>
              <a:buNone/>
            </a:pPr>
            <a:r>
              <a:rPr lang="en-US" sz="1100" dirty="0">
                <a:solidFill>
                  <a:srgbClr val="334155"/>
                </a:solidFill>
                <a:latin typeface="Arial" pitchFamily="34" charset="0"/>
                <a:ea typeface="Arial" pitchFamily="34" charset="-122"/>
                <a:cs typeface="Arial" pitchFamily="34" charset="-120"/>
              </a:rPr>
              <a:t>Hot NVMe storage holds 7 days of high-res alerts; Warm Ceph block storage holds 30 days of standard footage; Cold S3 object storage archives incident dossiers for 180+ days.
</a:t>
            </a:r>
            <a:pPr indent="0" marL="0">
              <a:lnSpc>
                <a:spcPts val="1700"/>
              </a:lnSpc>
              <a:buNone/>
            </a:pPr>
            <a:r>
              <a:rPr lang="en-US" sz="1100" b="1" dirty="0">
                <a:solidFill>
                  <a:srgbClr val="002347"/>
                </a:solidFill>
                <a:latin typeface="Arial" pitchFamily="34" charset="0"/>
                <a:ea typeface="Arial" pitchFamily="34" charset="-122"/>
                <a:cs typeface="Arial" pitchFamily="34" charset="-120"/>
              </a:rPr>
              <a:t>• Regional Node Clustering: </a:t>
            </a:r>
            <a:pPr indent="0" marL="0">
              <a:lnSpc>
                <a:spcPts val="1700"/>
              </a:lnSpc>
              <a:buNone/>
            </a:pPr>
            <a:r>
              <a:rPr lang="en-US" sz="1100" dirty="0">
                <a:solidFill>
                  <a:srgbClr val="334155"/>
                </a:solidFill>
                <a:latin typeface="Arial" pitchFamily="34" charset="0"/>
                <a:ea typeface="Arial" pitchFamily="34" charset="-122"/>
                <a:cs typeface="Arial" pitchFamily="34" charset="-120"/>
              </a:rPr>
              <a:t>4 regional compute hubs (Ahmedabad, Surat, Rajkot, Vadodara) reduce cross-state latency and preserve localized surveillance continuity even during fiber cuts.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12. Cybersecurity &amp; Zero-Trust Access Control</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End-to-End Encryption, Departmental Isolation &amp; Tamper-Proof Logs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13 of 16</a:t>
            </a:r>
            <a:endParaRPr lang="en-US" sz="900" dirty="0"/>
          </a:p>
        </p:txBody>
      </p:sp>
      <p:sp>
        <p:nvSpPr>
          <p:cNvPr id="9" name="Shape 6"/>
          <p:cNvSpPr/>
          <p:nvPr/>
        </p:nvSpPr>
        <p:spPr>
          <a:xfrm>
            <a:off x="822960" y="1463040"/>
            <a:ext cx="5029200" cy="2011680"/>
          </a:xfrm>
          <a:prstGeom prst="roundRect">
            <a:avLst/>
          </a:prstGeom>
          <a:solidFill>
            <a:srgbClr val="FFFFFF"/>
          </a:solidFill>
          <a:ln w="19050">
            <a:solidFill>
              <a:srgbClr val="CBD5E1"/>
            </a:solidFill>
            <a:prstDash val="solid"/>
          </a:ln>
        </p:spPr>
      </p:sp>
      <p:sp>
        <p:nvSpPr>
          <p:cNvPr id="10" name="Shape 7"/>
          <p:cNvSpPr/>
          <p:nvPr/>
        </p:nvSpPr>
        <p:spPr>
          <a:xfrm>
            <a:off x="822960" y="1463040"/>
            <a:ext cx="5029200" cy="73152"/>
          </a:xfrm>
          <a:prstGeom prst="rect">
            <a:avLst/>
          </a:prstGeom>
          <a:solidFill>
            <a:srgbClr val="002347"/>
          </a:solidFill>
          <a:ln/>
        </p:spPr>
      </p:sp>
      <p:sp>
        <p:nvSpPr>
          <p:cNvPr id="11" name="Text 8"/>
          <p:cNvSpPr/>
          <p:nvPr/>
        </p:nvSpPr>
        <p:spPr>
          <a:xfrm>
            <a:off x="1097280" y="1691640"/>
            <a:ext cx="4572000" cy="3200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Role-Based Access Control (RBAC)</a:t>
            </a:r>
            <a:endParaRPr lang="en-US" sz="1400" dirty="0"/>
          </a:p>
        </p:txBody>
      </p:sp>
      <p:sp>
        <p:nvSpPr>
          <p:cNvPr id="12" name="Text 9"/>
          <p:cNvSpPr/>
          <p:nvPr/>
        </p:nvSpPr>
        <p:spPr>
          <a:xfrm>
            <a:off x="1097280" y="2103120"/>
            <a:ext cx="4572000" cy="1188720"/>
          </a:xfrm>
          <a:prstGeom prst="rect">
            <a:avLst/>
          </a:prstGeom>
          <a:noFill/>
          <a:ln/>
        </p:spPr>
        <p:txBody>
          <a:bodyPr wrap="square" rtlCol="0" anchor="ctr"/>
          <a:lstStyle/>
          <a:p>
            <a:pPr indent="0" marL="0">
              <a:lnSpc>
                <a:spcPts val="1700"/>
              </a:lnSpc>
              <a:buNone/>
            </a:pPr>
            <a:r>
              <a:rPr lang="en-US" sz="1100" dirty="0">
                <a:solidFill>
                  <a:srgbClr val="334155"/>
                </a:solidFill>
                <a:latin typeface="Arial" pitchFamily="34" charset="0"/>
                <a:ea typeface="Arial" pitchFamily="34" charset="-122"/>
                <a:cs typeface="Arial" pitchFamily="34" charset="-120"/>
              </a:rPr>
              <a:t>Strict departmental separation. Traffic officers view traffic cameras; RTO officers view testing tracks; DGP / SCRB leadership holds statewide oversight.</a:t>
            </a:r>
            <a:endParaRPr lang="en-US" sz="1100" dirty="0"/>
          </a:p>
        </p:txBody>
      </p:sp>
      <p:sp>
        <p:nvSpPr>
          <p:cNvPr id="13" name="Shape 10"/>
          <p:cNvSpPr/>
          <p:nvPr/>
        </p:nvSpPr>
        <p:spPr>
          <a:xfrm>
            <a:off x="6126480" y="1463040"/>
            <a:ext cx="5029200" cy="2011680"/>
          </a:xfrm>
          <a:prstGeom prst="roundRect">
            <a:avLst/>
          </a:prstGeom>
          <a:solidFill>
            <a:srgbClr val="FFFFFF"/>
          </a:solidFill>
          <a:ln w="19050">
            <a:solidFill>
              <a:srgbClr val="CBD5E1"/>
            </a:solidFill>
            <a:prstDash val="solid"/>
          </a:ln>
        </p:spPr>
      </p:sp>
      <p:sp>
        <p:nvSpPr>
          <p:cNvPr id="14" name="Shape 11"/>
          <p:cNvSpPr/>
          <p:nvPr/>
        </p:nvSpPr>
        <p:spPr>
          <a:xfrm>
            <a:off x="6126480" y="1463040"/>
            <a:ext cx="5029200" cy="73152"/>
          </a:xfrm>
          <a:prstGeom prst="rect">
            <a:avLst/>
          </a:prstGeom>
          <a:solidFill>
            <a:srgbClr val="002347"/>
          </a:solidFill>
          <a:ln/>
        </p:spPr>
      </p:sp>
      <p:sp>
        <p:nvSpPr>
          <p:cNvPr id="15" name="Text 12"/>
          <p:cNvSpPr/>
          <p:nvPr/>
        </p:nvSpPr>
        <p:spPr>
          <a:xfrm>
            <a:off x="6400800" y="1691640"/>
            <a:ext cx="4572000" cy="3200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End-to-End TLS 1.3 Encryption</a:t>
            </a:r>
            <a:endParaRPr lang="en-US" sz="1400" dirty="0"/>
          </a:p>
        </p:txBody>
      </p:sp>
      <p:sp>
        <p:nvSpPr>
          <p:cNvPr id="16" name="Text 13"/>
          <p:cNvSpPr/>
          <p:nvPr/>
        </p:nvSpPr>
        <p:spPr>
          <a:xfrm>
            <a:off x="6400800" y="2103120"/>
            <a:ext cx="4572000" cy="1188720"/>
          </a:xfrm>
          <a:prstGeom prst="rect">
            <a:avLst/>
          </a:prstGeom>
          <a:noFill/>
          <a:ln/>
        </p:spPr>
        <p:txBody>
          <a:bodyPr wrap="square" rtlCol="0" anchor="ctr"/>
          <a:lstStyle/>
          <a:p>
            <a:pPr indent="0" marL="0">
              <a:lnSpc>
                <a:spcPts val="1700"/>
              </a:lnSpc>
              <a:buNone/>
            </a:pPr>
            <a:r>
              <a:rPr lang="en-US" sz="1100" dirty="0">
                <a:solidFill>
                  <a:srgbClr val="334155"/>
                </a:solidFill>
                <a:latin typeface="Arial" pitchFamily="34" charset="0"/>
                <a:ea typeface="Arial" pitchFamily="34" charset="-122"/>
                <a:cs typeface="Arial" pitchFamily="34" charset="-120"/>
              </a:rPr>
              <a:t>All video feeds in transit encrypted via SRTP/TLS 1.3. At-rest video snippets and forensic metadata protected with AES-256 GCM encryption.</a:t>
            </a:r>
            <a:endParaRPr lang="en-US" sz="1100" dirty="0"/>
          </a:p>
        </p:txBody>
      </p:sp>
      <p:sp>
        <p:nvSpPr>
          <p:cNvPr id="17" name="Shape 14"/>
          <p:cNvSpPr/>
          <p:nvPr/>
        </p:nvSpPr>
        <p:spPr>
          <a:xfrm>
            <a:off x="822960" y="3749040"/>
            <a:ext cx="5029200" cy="2011680"/>
          </a:xfrm>
          <a:prstGeom prst="roundRect">
            <a:avLst/>
          </a:prstGeom>
          <a:solidFill>
            <a:srgbClr val="FFFFFF"/>
          </a:solidFill>
          <a:ln w="19050">
            <a:solidFill>
              <a:srgbClr val="CBD5E1"/>
            </a:solidFill>
            <a:prstDash val="solid"/>
          </a:ln>
        </p:spPr>
      </p:sp>
      <p:sp>
        <p:nvSpPr>
          <p:cNvPr id="18" name="Shape 15"/>
          <p:cNvSpPr/>
          <p:nvPr/>
        </p:nvSpPr>
        <p:spPr>
          <a:xfrm>
            <a:off x="822960" y="3749040"/>
            <a:ext cx="5029200" cy="73152"/>
          </a:xfrm>
          <a:prstGeom prst="rect">
            <a:avLst/>
          </a:prstGeom>
          <a:solidFill>
            <a:srgbClr val="002347"/>
          </a:solidFill>
          <a:ln/>
        </p:spPr>
      </p:sp>
      <p:sp>
        <p:nvSpPr>
          <p:cNvPr id="19" name="Text 16"/>
          <p:cNvSpPr/>
          <p:nvPr/>
        </p:nvSpPr>
        <p:spPr>
          <a:xfrm>
            <a:off x="1097280" y="3977640"/>
            <a:ext cx="4572000" cy="3200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Tamper-Evident Audit Logging</a:t>
            </a:r>
            <a:endParaRPr lang="en-US" sz="1400" dirty="0"/>
          </a:p>
        </p:txBody>
      </p:sp>
      <p:sp>
        <p:nvSpPr>
          <p:cNvPr id="20" name="Text 17"/>
          <p:cNvSpPr/>
          <p:nvPr/>
        </p:nvSpPr>
        <p:spPr>
          <a:xfrm>
            <a:off x="1097280" y="4389120"/>
            <a:ext cx="4572000" cy="1188720"/>
          </a:xfrm>
          <a:prstGeom prst="rect">
            <a:avLst/>
          </a:prstGeom>
          <a:noFill/>
          <a:ln/>
        </p:spPr>
        <p:txBody>
          <a:bodyPr wrap="square" rtlCol="0" anchor="ctr"/>
          <a:lstStyle/>
          <a:p>
            <a:pPr indent="0" marL="0">
              <a:lnSpc>
                <a:spcPts val="1700"/>
              </a:lnSpc>
              <a:buNone/>
            </a:pPr>
            <a:r>
              <a:rPr lang="en-US" sz="1100" dirty="0">
                <a:solidFill>
                  <a:srgbClr val="334155"/>
                </a:solidFill>
                <a:latin typeface="Arial" pitchFamily="34" charset="0"/>
                <a:ea typeface="Arial" pitchFamily="34" charset="-122"/>
                <a:cs typeface="Arial" pitchFamily="34" charset="-120"/>
              </a:rPr>
              <a:t>Every feed accessed, clip exported, plate searched, or camera modified is logged with immutable cryptographic signatures for regulatory compliance.</a:t>
            </a:r>
            <a:endParaRPr lang="en-US" sz="1100" dirty="0"/>
          </a:p>
        </p:txBody>
      </p:sp>
      <p:sp>
        <p:nvSpPr>
          <p:cNvPr id="21" name="Shape 18"/>
          <p:cNvSpPr/>
          <p:nvPr/>
        </p:nvSpPr>
        <p:spPr>
          <a:xfrm>
            <a:off x="6126480" y="3749040"/>
            <a:ext cx="5029200" cy="2011680"/>
          </a:xfrm>
          <a:prstGeom prst="roundRect">
            <a:avLst/>
          </a:prstGeom>
          <a:solidFill>
            <a:srgbClr val="FFFFFF"/>
          </a:solidFill>
          <a:ln w="19050">
            <a:solidFill>
              <a:srgbClr val="CBD5E1"/>
            </a:solidFill>
            <a:prstDash val="solid"/>
          </a:ln>
        </p:spPr>
      </p:sp>
      <p:sp>
        <p:nvSpPr>
          <p:cNvPr id="22" name="Shape 19"/>
          <p:cNvSpPr/>
          <p:nvPr/>
        </p:nvSpPr>
        <p:spPr>
          <a:xfrm>
            <a:off x="6126480" y="3749040"/>
            <a:ext cx="5029200" cy="73152"/>
          </a:xfrm>
          <a:prstGeom prst="rect">
            <a:avLst/>
          </a:prstGeom>
          <a:solidFill>
            <a:srgbClr val="002347"/>
          </a:solidFill>
          <a:ln/>
        </p:spPr>
      </p:sp>
      <p:sp>
        <p:nvSpPr>
          <p:cNvPr id="23" name="Text 20"/>
          <p:cNvSpPr/>
          <p:nvPr/>
        </p:nvSpPr>
        <p:spPr>
          <a:xfrm>
            <a:off x="6400800" y="3977640"/>
            <a:ext cx="4572000" cy="3200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Two-Factor Auth &amp; IP Whitelisting</a:t>
            </a:r>
            <a:endParaRPr lang="en-US" sz="1400" dirty="0"/>
          </a:p>
        </p:txBody>
      </p:sp>
      <p:sp>
        <p:nvSpPr>
          <p:cNvPr id="24" name="Text 21"/>
          <p:cNvSpPr/>
          <p:nvPr/>
        </p:nvSpPr>
        <p:spPr>
          <a:xfrm>
            <a:off x="6400800" y="4389120"/>
            <a:ext cx="4572000" cy="1188720"/>
          </a:xfrm>
          <a:prstGeom prst="rect">
            <a:avLst/>
          </a:prstGeom>
          <a:noFill/>
          <a:ln/>
        </p:spPr>
        <p:txBody>
          <a:bodyPr wrap="square" rtlCol="0" anchor="ctr"/>
          <a:lstStyle/>
          <a:p>
            <a:pPr indent="0" marL="0">
              <a:lnSpc>
                <a:spcPts val="1700"/>
              </a:lnSpc>
              <a:buNone/>
            </a:pPr>
            <a:r>
              <a:rPr lang="en-US" sz="1100" dirty="0">
                <a:solidFill>
                  <a:srgbClr val="334155"/>
                </a:solidFill>
                <a:latin typeface="Arial" pitchFamily="34" charset="0"/>
                <a:ea typeface="Arial" pitchFamily="34" charset="-122"/>
                <a:cs typeface="Arial" pitchFamily="34" charset="-120"/>
              </a:rPr>
              <a:t>Mandatory OTP verification via authorized police mobile terminals and network-level IP whitelisting for all police command center workstations.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13. Cost-Benefit Analysis &amp; ROI for Gujarat</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Maximizing Value from Existing Public Infrastructure Investments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14 of 16</a:t>
            </a:r>
            <a:endParaRPr lang="en-US" sz="900" dirty="0"/>
          </a:p>
        </p:txBody>
      </p:sp>
      <p:sp>
        <p:nvSpPr>
          <p:cNvPr id="9" name="Shape 6"/>
          <p:cNvSpPr/>
          <p:nvPr/>
        </p:nvSpPr>
        <p:spPr>
          <a:xfrm>
            <a:off x="548640" y="1371600"/>
            <a:ext cx="11091672" cy="4754880"/>
          </a:xfrm>
          <a:prstGeom prst="roundRect">
            <a:avLst/>
          </a:prstGeom>
          <a:solidFill>
            <a:srgbClr val="FFFFFF"/>
          </a:solidFill>
          <a:ln w="19050">
            <a:solidFill>
              <a:srgbClr val="CBD5E1"/>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2960" y="1645920"/>
          <a:ext cx="10515600" cy="914400"/>
        </p:xfrm>
        <a:graphic>
          <a:graphicData uri="http://schemas.openxmlformats.org/drawingml/2006/table">
            <a:tbl>
              <a:tblPr/>
              <a:tblGrid>
                <a:gridCol w="2377440"/>
                <a:gridCol w="2651760"/>
                <a:gridCol w="2926080"/>
                <a:gridCol w="2560320"/>
              </a:tblGrid>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Metric / Capability</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Current Fragmented Model</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GP-SENTINEL Integrated Model</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Net Value to Gujarat</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Camera Replacement Cost</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Requires ₹450+ Cr new capex</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₹0 hardware replacement (Adapter-based)</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Saves ₹450+ Crore Capex</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Vehicle Tracing Time</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4 to 24 hours (Manual phone calls)</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&lt; 3 seconds (Automated ANPR Traversal)</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99% Faster Response Time</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Bandwidth Utilization</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160 Gbps needed (continuous 4K)</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6.4 Gbps (Edge metadata push)</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95% WAN Bandwidth Savings</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Stolen Vehicle Recovery</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Estimated 18% recovery rate</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Targeted &gt; 65% automated interdiction</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Direct Asset Protection</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Court Evidence Quality</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High rate of challenge in court</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Section 65B certified SHA-256 hash</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Higher Conviction Rate</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14. Statewide Implementation Roadmap</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Three-Phase Execution from Hackathon Prototype to Statewide Rollout</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15 of 16</a:t>
            </a:r>
            <a:endParaRPr lang="en-US" sz="900" dirty="0"/>
          </a:p>
        </p:txBody>
      </p:sp>
      <p:sp>
        <p:nvSpPr>
          <p:cNvPr id="9" name="Shape 6"/>
          <p:cNvSpPr/>
          <p:nvPr/>
        </p:nvSpPr>
        <p:spPr>
          <a:xfrm>
            <a:off x="548640" y="1371600"/>
            <a:ext cx="11091672" cy="1417320"/>
          </a:xfrm>
          <a:prstGeom prst="roundRect">
            <a:avLst/>
          </a:prstGeom>
          <a:solidFill>
            <a:srgbClr val="FFFFFF"/>
          </a:solidFill>
          <a:ln w="19050">
            <a:solidFill>
              <a:srgbClr val="0284C7"/>
            </a:solidFill>
            <a:prstDash val="solid"/>
          </a:ln>
        </p:spPr>
      </p:sp>
      <p:sp>
        <p:nvSpPr>
          <p:cNvPr id="10" name="Shape 7"/>
          <p:cNvSpPr/>
          <p:nvPr/>
        </p:nvSpPr>
        <p:spPr>
          <a:xfrm>
            <a:off x="548640" y="1371600"/>
            <a:ext cx="2926080" cy="1417320"/>
          </a:xfrm>
          <a:prstGeom prst="rect">
            <a:avLst/>
          </a:prstGeom>
          <a:solidFill>
            <a:srgbClr val="002347"/>
          </a:solidFill>
          <a:ln/>
        </p:spPr>
      </p:sp>
      <p:sp>
        <p:nvSpPr>
          <p:cNvPr id="11" name="Text 8"/>
          <p:cNvSpPr/>
          <p:nvPr/>
        </p:nvSpPr>
        <p:spPr>
          <a:xfrm>
            <a:off x="731520" y="1600200"/>
            <a:ext cx="2560320" cy="5486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PHASE 1: PROTOTYPE &amp; PROOF OF CONCEPT</a:t>
            </a:r>
            <a:endParaRPr lang="en-US" sz="1100" dirty="0"/>
          </a:p>
        </p:txBody>
      </p:sp>
      <p:sp>
        <p:nvSpPr>
          <p:cNvPr id="12" name="Text 9"/>
          <p:cNvSpPr/>
          <p:nvPr/>
        </p:nvSpPr>
        <p:spPr>
          <a:xfrm>
            <a:off x="731520" y="2194560"/>
            <a:ext cx="25603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Months 1 – 3</a:t>
            </a:r>
            <a:endParaRPr lang="en-US" sz="1200" dirty="0"/>
          </a:p>
        </p:txBody>
      </p:sp>
      <p:sp>
        <p:nvSpPr>
          <p:cNvPr id="13" name="Text 10"/>
          <p:cNvSpPr/>
          <p:nvPr/>
        </p:nvSpPr>
        <p:spPr>
          <a:xfrm>
            <a:off x="3749040" y="1554480"/>
            <a:ext cx="7589520" cy="1097280"/>
          </a:xfrm>
          <a:prstGeom prst="rect">
            <a:avLst/>
          </a:prstGeom>
          <a:noFill/>
          <a:ln/>
        </p:spPr>
        <p:txBody>
          <a:bodyPr wrap="square" rtlCol="0" anchor="ctr"/>
          <a:lstStyle/>
          <a:p>
            <a:pPr indent="0" marL="0">
              <a:lnSpc>
                <a:spcPts val="1600"/>
              </a:lnSpc>
              <a:buNone/>
            </a:pPr>
            <a:r>
              <a:rPr lang="en-US" sz="1050" dirty="0">
                <a:solidFill>
                  <a:srgbClr val="334155"/>
                </a:solidFill>
                <a:latin typeface="Arial" pitchFamily="34" charset="0"/>
                <a:ea typeface="Arial" pitchFamily="34" charset="-122"/>
                <a:cs typeface="Arial" pitchFamily="34" charset="-120"/>
              </a:rPr>
              <a:t>• Complete onboarding of 50-camera government test grid</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Verification of ANPR, vehicle re-ID, and watchlist correlation</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On-site PoC demonstration at SCRB Gandhinagar / i-Hub</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Baseline integration with VAHAN and eGujCop sandbox</a:t>
            </a:r>
            <a:endParaRPr lang="en-US" sz="1050" dirty="0"/>
          </a:p>
        </p:txBody>
      </p:sp>
      <p:sp>
        <p:nvSpPr>
          <p:cNvPr id="14" name="Shape 11"/>
          <p:cNvSpPr/>
          <p:nvPr/>
        </p:nvSpPr>
        <p:spPr>
          <a:xfrm>
            <a:off x="548640" y="2971800"/>
            <a:ext cx="11091672" cy="1417320"/>
          </a:xfrm>
          <a:prstGeom prst="roundRect">
            <a:avLst/>
          </a:prstGeom>
          <a:solidFill>
            <a:srgbClr val="FFFFFF"/>
          </a:solidFill>
          <a:ln w="19050">
            <a:solidFill>
              <a:srgbClr val="0284C7"/>
            </a:solidFill>
            <a:prstDash val="solid"/>
          </a:ln>
        </p:spPr>
      </p:sp>
      <p:sp>
        <p:nvSpPr>
          <p:cNvPr id="15" name="Shape 12"/>
          <p:cNvSpPr/>
          <p:nvPr/>
        </p:nvSpPr>
        <p:spPr>
          <a:xfrm>
            <a:off x="548640" y="2971800"/>
            <a:ext cx="2926080" cy="1417320"/>
          </a:xfrm>
          <a:prstGeom prst="rect">
            <a:avLst/>
          </a:prstGeom>
          <a:solidFill>
            <a:srgbClr val="002347"/>
          </a:solidFill>
          <a:ln/>
        </p:spPr>
      </p:sp>
      <p:sp>
        <p:nvSpPr>
          <p:cNvPr id="16" name="Text 13"/>
          <p:cNvSpPr/>
          <p:nvPr/>
        </p:nvSpPr>
        <p:spPr>
          <a:xfrm>
            <a:off x="731520" y="3200400"/>
            <a:ext cx="2560320" cy="5486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PHASE 2: 5-DISTRICT REGIONAL PILOT</a:t>
            </a:r>
            <a:endParaRPr lang="en-US" sz="1100" dirty="0"/>
          </a:p>
        </p:txBody>
      </p:sp>
      <p:sp>
        <p:nvSpPr>
          <p:cNvPr id="17" name="Text 14"/>
          <p:cNvSpPr/>
          <p:nvPr/>
        </p:nvSpPr>
        <p:spPr>
          <a:xfrm>
            <a:off x="731520" y="3794760"/>
            <a:ext cx="25603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Months 4 – 8</a:t>
            </a:r>
            <a:endParaRPr lang="en-US" sz="1200" dirty="0"/>
          </a:p>
        </p:txBody>
      </p:sp>
      <p:sp>
        <p:nvSpPr>
          <p:cNvPr id="18" name="Text 15"/>
          <p:cNvSpPr/>
          <p:nvPr/>
        </p:nvSpPr>
        <p:spPr>
          <a:xfrm>
            <a:off x="3749040" y="3154680"/>
            <a:ext cx="7589520" cy="1097280"/>
          </a:xfrm>
          <a:prstGeom prst="rect">
            <a:avLst/>
          </a:prstGeom>
          <a:noFill/>
          <a:ln/>
        </p:spPr>
        <p:txBody>
          <a:bodyPr wrap="square" rtlCol="0" anchor="ctr"/>
          <a:lstStyle/>
          <a:p>
            <a:pPr indent="0" marL="0">
              <a:lnSpc>
                <a:spcPts val="1600"/>
              </a:lnSpc>
              <a:buNone/>
            </a:pPr>
            <a:r>
              <a:rPr lang="en-US" sz="1050" dirty="0">
                <a:solidFill>
                  <a:srgbClr val="334155"/>
                </a:solidFill>
                <a:latin typeface="Arial" pitchFamily="34" charset="0"/>
                <a:ea typeface="Arial" pitchFamily="34" charset="-122"/>
                <a:cs typeface="Arial" pitchFamily="34" charset="-120"/>
              </a:rPr>
              <a:t>• Deploy regional edge hubs in Ahmedabad, Gandhinagar, Surat, Rajkot, Vadodara</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Onboard 5,000 active departmental cameras across Police, RTO, GSRTC</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Field testing with active PCR mobile patrol vans</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Section 65B forensic dossier validation with judicial officers</a:t>
            </a:r>
            <a:endParaRPr lang="en-US" sz="1050" dirty="0"/>
          </a:p>
        </p:txBody>
      </p:sp>
      <p:sp>
        <p:nvSpPr>
          <p:cNvPr id="19" name="Shape 16"/>
          <p:cNvSpPr/>
          <p:nvPr/>
        </p:nvSpPr>
        <p:spPr>
          <a:xfrm>
            <a:off x="548640" y="4572000"/>
            <a:ext cx="11091672" cy="1417320"/>
          </a:xfrm>
          <a:prstGeom prst="roundRect">
            <a:avLst/>
          </a:prstGeom>
          <a:solidFill>
            <a:srgbClr val="FFFFFF"/>
          </a:solidFill>
          <a:ln w="19050">
            <a:solidFill>
              <a:srgbClr val="0284C7"/>
            </a:solidFill>
            <a:prstDash val="solid"/>
          </a:ln>
        </p:spPr>
      </p:sp>
      <p:sp>
        <p:nvSpPr>
          <p:cNvPr id="20" name="Shape 17"/>
          <p:cNvSpPr/>
          <p:nvPr/>
        </p:nvSpPr>
        <p:spPr>
          <a:xfrm>
            <a:off x="548640" y="4572000"/>
            <a:ext cx="2926080" cy="1417320"/>
          </a:xfrm>
          <a:prstGeom prst="rect">
            <a:avLst/>
          </a:prstGeom>
          <a:solidFill>
            <a:srgbClr val="002347"/>
          </a:solidFill>
          <a:ln/>
        </p:spPr>
      </p:sp>
      <p:sp>
        <p:nvSpPr>
          <p:cNvPr id="21" name="Text 18"/>
          <p:cNvSpPr/>
          <p:nvPr/>
        </p:nvSpPr>
        <p:spPr>
          <a:xfrm>
            <a:off x="731520" y="4800600"/>
            <a:ext cx="2560320" cy="5486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PHASE 3: STATEWIDE SCALE (80,000+ CAMERAS)</a:t>
            </a:r>
            <a:endParaRPr lang="en-US" sz="1100" dirty="0"/>
          </a:p>
        </p:txBody>
      </p:sp>
      <p:sp>
        <p:nvSpPr>
          <p:cNvPr id="22" name="Text 19"/>
          <p:cNvSpPr/>
          <p:nvPr/>
        </p:nvSpPr>
        <p:spPr>
          <a:xfrm>
            <a:off x="731520" y="5394960"/>
            <a:ext cx="25603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Months 9 – 18</a:t>
            </a:r>
            <a:endParaRPr lang="en-US" sz="1200" dirty="0"/>
          </a:p>
        </p:txBody>
      </p:sp>
      <p:sp>
        <p:nvSpPr>
          <p:cNvPr id="23" name="Text 20"/>
          <p:cNvSpPr/>
          <p:nvPr/>
        </p:nvSpPr>
        <p:spPr>
          <a:xfrm>
            <a:off x="3749040" y="4754880"/>
            <a:ext cx="7589520" cy="1097280"/>
          </a:xfrm>
          <a:prstGeom prst="rect">
            <a:avLst/>
          </a:prstGeom>
          <a:noFill/>
          <a:ln/>
        </p:spPr>
        <p:txBody>
          <a:bodyPr wrap="square" rtlCol="0" anchor="ctr"/>
          <a:lstStyle/>
          <a:p>
            <a:pPr indent="0" marL="0">
              <a:lnSpc>
                <a:spcPts val="1600"/>
              </a:lnSpc>
              <a:buNone/>
            </a:pPr>
            <a:r>
              <a:rPr lang="en-US" sz="1050" dirty="0">
                <a:solidFill>
                  <a:srgbClr val="334155"/>
                </a:solidFill>
                <a:latin typeface="Arial" pitchFamily="34" charset="0"/>
                <a:ea typeface="Arial" pitchFamily="34" charset="-122"/>
                <a:cs typeface="Arial" pitchFamily="34" charset="-120"/>
              </a:rPr>
              <a:t>• Full rollout across all 33 districts and 26 government departments</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Integration of private commercial establishment feeds (malls, societies)</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Deployment of multi-zone Kubernetes clusters and automated DR replication</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24/7 continuous command operations under Gujarat Police SCRB</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347"/>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97706"/>
          </a:solidFill>
          <a:ln/>
        </p:spPr>
      </p:sp>
      <p:pic>
        <p:nvPicPr>
          <p:cNvPr id="3" name="Image 0" descr="C:\SentinelProject\public\assets\gujarat-police-logo.png">    </p:cNvPr>
          <p:cNvPicPr>
            <a:picLocks noChangeAspect="1"/>
          </p:cNvPicPr>
          <p:nvPr/>
        </p:nvPicPr>
        <p:blipFill>
          <a:blip r:embed="rId1"/>
          <a:stretch>
            <a:fillRect/>
          </a:stretch>
        </p:blipFill>
        <p:spPr>
          <a:xfrm>
            <a:off x="5212080" y="731520"/>
            <a:ext cx="1645920" cy="1645920"/>
          </a:xfrm>
          <a:prstGeom prst="rect">
            <a:avLst/>
          </a:prstGeom>
        </p:spPr>
      </p:pic>
      <p:sp>
        <p:nvSpPr>
          <p:cNvPr id="4" name="Text 1"/>
          <p:cNvSpPr/>
          <p:nvPr/>
        </p:nvSpPr>
        <p:spPr>
          <a:xfrm>
            <a:off x="914400" y="2560320"/>
            <a:ext cx="10360152" cy="54864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GP-SENTINEL: READY FOR REAL-WORLD POLICING</a:t>
            </a:r>
            <a:endParaRPr lang="en-US" sz="2600" dirty="0"/>
          </a:p>
        </p:txBody>
      </p:sp>
      <p:sp>
        <p:nvSpPr>
          <p:cNvPr id="5" name="Text 2"/>
          <p:cNvSpPr/>
          <p:nvPr/>
        </p:nvSpPr>
        <p:spPr>
          <a:xfrm>
            <a:off x="914400" y="3154680"/>
            <a:ext cx="10360152" cy="365760"/>
          </a:xfrm>
          <a:prstGeom prst="rect">
            <a:avLst/>
          </a:prstGeom>
          <a:noFill/>
          <a:ln/>
        </p:spPr>
        <p:txBody>
          <a:bodyPr wrap="square" rtlCol="0" anchor="ctr"/>
          <a:lstStyle/>
          <a:p>
            <a:pPr algn="ctr" indent="0" marL="0">
              <a:buNone/>
            </a:pPr>
            <a:r>
              <a:rPr lang="en-US" sz="1400" dirty="0">
                <a:solidFill>
                  <a:srgbClr val="BAE6FD"/>
                </a:solidFill>
                <a:latin typeface="Arial" pitchFamily="34" charset="0"/>
                <a:ea typeface="Arial" pitchFamily="34" charset="-122"/>
                <a:cs typeface="Arial" pitchFamily="34" charset="-120"/>
              </a:rPr>
              <a:t>A Scalable, Secure &amp; Intelligent Video Command Ecosystem for Gujarat Police</a:t>
            </a:r>
            <a:endParaRPr lang="en-US" sz="1400" dirty="0"/>
          </a:p>
        </p:txBody>
      </p:sp>
      <p:sp>
        <p:nvSpPr>
          <p:cNvPr id="6" name="Shape 3"/>
          <p:cNvSpPr/>
          <p:nvPr/>
        </p:nvSpPr>
        <p:spPr>
          <a:xfrm>
            <a:off x="548640" y="3794760"/>
            <a:ext cx="2651760" cy="1645920"/>
          </a:xfrm>
          <a:prstGeom prst="roundRect">
            <a:avLst/>
          </a:prstGeom>
          <a:solidFill>
            <a:srgbClr val="001830"/>
          </a:solidFill>
          <a:ln w="12700">
            <a:solidFill>
              <a:srgbClr val="0284C7"/>
            </a:solidFill>
            <a:prstDash val="solid"/>
          </a:ln>
        </p:spPr>
      </p:sp>
      <p:sp>
        <p:nvSpPr>
          <p:cNvPr id="7" name="Text 4"/>
          <p:cNvSpPr/>
          <p:nvPr/>
        </p:nvSpPr>
        <p:spPr>
          <a:xfrm>
            <a:off x="685800" y="3931920"/>
            <a:ext cx="2377440" cy="320040"/>
          </a:xfrm>
          <a:prstGeom prst="rect">
            <a:avLst/>
          </a:prstGeom>
          <a:noFill/>
          <a:ln/>
        </p:spPr>
        <p:txBody>
          <a:bodyPr wrap="square" rtlCol="0" anchor="ctr"/>
          <a:lstStyle/>
          <a:p>
            <a:pPr algn="ctr" indent="0" marL="0">
              <a:buNone/>
            </a:pPr>
            <a:r>
              <a:rPr lang="en-US" sz="1250" b="1" dirty="0">
                <a:solidFill>
                  <a:srgbClr val="D97706"/>
                </a:solidFill>
                <a:latin typeface="Arial" pitchFamily="34" charset="0"/>
                <a:ea typeface="Arial" pitchFamily="34" charset="-122"/>
                <a:cs typeface="Arial" pitchFamily="34" charset="-120"/>
              </a:rPr>
              <a:t>Working Prototype</a:t>
            </a:r>
            <a:endParaRPr lang="en-US" sz="1250" dirty="0"/>
          </a:p>
        </p:txBody>
      </p:sp>
      <p:sp>
        <p:nvSpPr>
          <p:cNvPr id="8" name="Text 5"/>
          <p:cNvSpPr/>
          <p:nvPr/>
        </p:nvSpPr>
        <p:spPr>
          <a:xfrm>
            <a:off x="685800" y="4343400"/>
            <a:ext cx="2377440" cy="457200"/>
          </a:xfrm>
          <a:prstGeom prst="rect">
            <a:avLst/>
          </a:prstGeom>
          <a:noFill/>
          <a:ln/>
        </p:spPr>
        <p:txBody>
          <a:bodyPr wrap="square"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http://localhost:3000</a:t>
            </a:r>
            <a:endParaRPr lang="en-US" sz="950" dirty="0"/>
          </a:p>
        </p:txBody>
      </p:sp>
      <p:sp>
        <p:nvSpPr>
          <p:cNvPr id="9" name="Text 6"/>
          <p:cNvSpPr/>
          <p:nvPr/>
        </p:nvSpPr>
        <p:spPr>
          <a:xfrm>
            <a:off x="685800" y="4892040"/>
            <a:ext cx="237744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Live 10-Module Platform</a:t>
            </a:r>
            <a:endParaRPr lang="en-US" sz="900" dirty="0"/>
          </a:p>
        </p:txBody>
      </p:sp>
      <p:sp>
        <p:nvSpPr>
          <p:cNvPr id="10" name="Shape 7"/>
          <p:cNvSpPr/>
          <p:nvPr/>
        </p:nvSpPr>
        <p:spPr>
          <a:xfrm>
            <a:off x="3364992" y="3794760"/>
            <a:ext cx="2651760" cy="1645920"/>
          </a:xfrm>
          <a:prstGeom prst="roundRect">
            <a:avLst/>
          </a:prstGeom>
          <a:solidFill>
            <a:srgbClr val="001830"/>
          </a:solidFill>
          <a:ln w="12700">
            <a:solidFill>
              <a:srgbClr val="0284C7"/>
            </a:solidFill>
            <a:prstDash val="solid"/>
          </a:ln>
        </p:spPr>
      </p:sp>
      <p:sp>
        <p:nvSpPr>
          <p:cNvPr id="11" name="Text 8"/>
          <p:cNvSpPr/>
          <p:nvPr/>
        </p:nvSpPr>
        <p:spPr>
          <a:xfrm>
            <a:off x="3502152" y="3931920"/>
            <a:ext cx="2377440" cy="320040"/>
          </a:xfrm>
          <a:prstGeom prst="rect">
            <a:avLst/>
          </a:prstGeom>
          <a:noFill/>
          <a:ln/>
        </p:spPr>
        <p:txBody>
          <a:bodyPr wrap="square" rtlCol="0" anchor="ctr"/>
          <a:lstStyle/>
          <a:p>
            <a:pPr algn="ctr" indent="0" marL="0">
              <a:buNone/>
            </a:pPr>
            <a:r>
              <a:rPr lang="en-US" sz="1250" b="1" dirty="0">
                <a:solidFill>
                  <a:srgbClr val="D97706"/>
                </a:solidFill>
                <a:latin typeface="Arial" pitchFamily="34" charset="0"/>
                <a:ea typeface="Arial" pitchFamily="34" charset="-122"/>
                <a:cs typeface="Arial" pitchFamily="34" charset="-120"/>
              </a:rPr>
              <a:t>Video Demonstration</a:t>
            </a:r>
            <a:endParaRPr lang="en-US" sz="1250" dirty="0"/>
          </a:p>
        </p:txBody>
      </p:sp>
      <p:sp>
        <p:nvSpPr>
          <p:cNvPr id="12" name="Text 9"/>
          <p:cNvSpPr/>
          <p:nvPr/>
        </p:nvSpPr>
        <p:spPr>
          <a:xfrm>
            <a:off x="3502152" y="4343400"/>
            <a:ext cx="2377440" cy="457200"/>
          </a:xfrm>
          <a:prstGeom prst="rect">
            <a:avLst/>
          </a:prstGeom>
          <a:noFill/>
          <a:ln/>
        </p:spPr>
        <p:txBody>
          <a:bodyPr wrap="square"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http://localhost:3000/video-demo</a:t>
            </a:r>
            <a:endParaRPr lang="en-US" sz="950" dirty="0"/>
          </a:p>
        </p:txBody>
      </p:sp>
      <p:sp>
        <p:nvSpPr>
          <p:cNvPr id="13" name="Text 10"/>
          <p:cNvSpPr/>
          <p:nvPr/>
        </p:nvSpPr>
        <p:spPr>
          <a:xfrm>
            <a:off x="3502152" y="4892040"/>
            <a:ext cx="237744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Automated Walkthrough Tour</a:t>
            </a:r>
            <a:endParaRPr lang="en-US" sz="900" dirty="0"/>
          </a:p>
        </p:txBody>
      </p:sp>
      <p:sp>
        <p:nvSpPr>
          <p:cNvPr id="14" name="Shape 11"/>
          <p:cNvSpPr/>
          <p:nvPr/>
        </p:nvSpPr>
        <p:spPr>
          <a:xfrm>
            <a:off x="6181344" y="3794760"/>
            <a:ext cx="2651760" cy="1645920"/>
          </a:xfrm>
          <a:prstGeom prst="roundRect">
            <a:avLst/>
          </a:prstGeom>
          <a:solidFill>
            <a:srgbClr val="001830"/>
          </a:solidFill>
          <a:ln w="12700">
            <a:solidFill>
              <a:srgbClr val="0284C7"/>
            </a:solidFill>
            <a:prstDash val="solid"/>
          </a:ln>
        </p:spPr>
      </p:sp>
      <p:sp>
        <p:nvSpPr>
          <p:cNvPr id="15" name="Text 12"/>
          <p:cNvSpPr/>
          <p:nvPr/>
        </p:nvSpPr>
        <p:spPr>
          <a:xfrm>
            <a:off x="6318504" y="3931920"/>
            <a:ext cx="2377440" cy="320040"/>
          </a:xfrm>
          <a:prstGeom prst="rect">
            <a:avLst/>
          </a:prstGeom>
          <a:noFill/>
          <a:ln/>
        </p:spPr>
        <p:txBody>
          <a:bodyPr wrap="square" rtlCol="0" anchor="ctr"/>
          <a:lstStyle/>
          <a:p>
            <a:pPr algn="ctr" indent="0" marL="0">
              <a:buNone/>
            </a:pPr>
            <a:r>
              <a:rPr lang="en-US" sz="1250" b="1" dirty="0">
                <a:solidFill>
                  <a:srgbClr val="D97706"/>
                </a:solidFill>
                <a:latin typeface="Arial" pitchFamily="34" charset="0"/>
                <a:ea typeface="Arial" pitchFamily="34" charset="-122"/>
                <a:cs typeface="Arial" pitchFamily="34" charset="-120"/>
              </a:rPr>
              <a:t>GitHub Repository</a:t>
            </a:r>
            <a:endParaRPr lang="en-US" sz="1250" dirty="0"/>
          </a:p>
        </p:txBody>
      </p:sp>
      <p:sp>
        <p:nvSpPr>
          <p:cNvPr id="16" name="Text 13"/>
          <p:cNvSpPr/>
          <p:nvPr/>
        </p:nvSpPr>
        <p:spPr>
          <a:xfrm>
            <a:off x="6318504" y="4343400"/>
            <a:ext cx="2377440" cy="457200"/>
          </a:xfrm>
          <a:prstGeom prst="rect">
            <a:avLst/>
          </a:prstGeom>
          <a:noFill/>
          <a:ln/>
        </p:spPr>
        <p:txBody>
          <a:bodyPr wrap="square"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https://github.com/divyeshhadiya/GP-SENTINEL</a:t>
            </a:r>
            <a:endParaRPr lang="en-US" sz="950" dirty="0"/>
          </a:p>
        </p:txBody>
      </p:sp>
      <p:sp>
        <p:nvSpPr>
          <p:cNvPr id="17" name="Text 14"/>
          <p:cNvSpPr/>
          <p:nvPr/>
        </p:nvSpPr>
        <p:spPr>
          <a:xfrm>
            <a:off x="6318504" y="4892040"/>
            <a:ext cx="237744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Clean 2-Commit Codebase</a:t>
            </a:r>
            <a:endParaRPr lang="en-US" sz="900" dirty="0"/>
          </a:p>
        </p:txBody>
      </p:sp>
      <p:sp>
        <p:nvSpPr>
          <p:cNvPr id="18" name="Shape 15"/>
          <p:cNvSpPr/>
          <p:nvPr/>
        </p:nvSpPr>
        <p:spPr>
          <a:xfrm>
            <a:off x="8997696" y="3794760"/>
            <a:ext cx="2651760" cy="1645920"/>
          </a:xfrm>
          <a:prstGeom prst="roundRect">
            <a:avLst/>
          </a:prstGeom>
          <a:solidFill>
            <a:srgbClr val="001830"/>
          </a:solidFill>
          <a:ln w="12700">
            <a:solidFill>
              <a:srgbClr val="0284C7"/>
            </a:solidFill>
            <a:prstDash val="solid"/>
          </a:ln>
        </p:spPr>
      </p:sp>
      <p:sp>
        <p:nvSpPr>
          <p:cNvPr id="19" name="Text 16"/>
          <p:cNvSpPr/>
          <p:nvPr/>
        </p:nvSpPr>
        <p:spPr>
          <a:xfrm>
            <a:off x="9134856" y="3931920"/>
            <a:ext cx="2377440" cy="320040"/>
          </a:xfrm>
          <a:prstGeom prst="rect">
            <a:avLst/>
          </a:prstGeom>
          <a:noFill/>
          <a:ln/>
        </p:spPr>
        <p:txBody>
          <a:bodyPr wrap="square" rtlCol="0" anchor="ctr"/>
          <a:lstStyle/>
          <a:p>
            <a:pPr algn="ctr" indent="0" marL="0">
              <a:buNone/>
            </a:pPr>
            <a:r>
              <a:rPr lang="en-US" sz="1250" b="1" dirty="0">
                <a:solidFill>
                  <a:srgbClr val="D97706"/>
                </a:solidFill>
                <a:latin typeface="Arial" pitchFamily="34" charset="0"/>
                <a:ea typeface="Arial" pitchFamily="34" charset="-122"/>
                <a:cs typeface="Arial" pitchFamily="34" charset="-120"/>
              </a:rPr>
              <a:t>Detection Output Report</a:t>
            </a:r>
            <a:endParaRPr lang="en-US" sz="1250" dirty="0"/>
          </a:p>
        </p:txBody>
      </p:sp>
      <p:sp>
        <p:nvSpPr>
          <p:cNvPr id="20" name="Text 17"/>
          <p:cNvSpPr/>
          <p:nvPr/>
        </p:nvSpPr>
        <p:spPr>
          <a:xfrm>
            <a:off x="9134856" y="4343400"/>
            <a:ext cx="2377440" cy="457200"/>
          </a:xfrm>
          <a:prstGeom prst="rect">
            <a:avLst/>
          </a:prstGeom>
          <a:noFill/>
          <a:ln/>
        </p:spPr>
        <p:txBody>
          <a:bodyPr wrap="square"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public/DETECTION_OUTPUT_REPORT.json</a:t>
            </a:r>
            <a:endParaRPr lang="en-US" sz="950" dirty="0"/>
          </a:p>
        </p:txBody>
      </p:sp>
      <p:sp>
        <p:nvSpPr>
          <p:cNvPr id="21" name="Text 18"/>
          <p:cNvSpPr/>
          <p:nvPr/>
        </p:nvSpPr>
        <p:spPr>
          <a:xfrm>
            <a:off x="9134856" y="4892040"/>
            <a:ext cx="237744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Timestamped ANPR Test Data</a:t>
            </a:r>
            <a:endParaRPr lang="en-US" sz="900" dirty="0"/>
          </a:p>
        </p:txBody>
      </p:sp>
      <p:sp>
        <p:nvSpPr>
          <p:cNvPr id="22" name="Text 19"/>
          <p:cNvSpPr/>
          <p:nvPr/>
        </p:nvSpPr>
        <p:spPr>
          <a:xfrm>
            <a:off x="914400" y="5852160"/>
            <a:ext cx="10360152"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Divyesh Hadiya • divyesh.hadiya@techahir.com • Gujarat Police Innovation Challenge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Gujarat Police Innovation Cohort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GP-SENTINEL: Statewide Video Intelligence &amp; Multi-Department Command Platform</dc:title>
  <dc:subject>Gujarat Police Innovation Challenge 2026</dc:subject>
  <dc:creator>Divyesh Hadiya</dc:creator>
  <cp:lastModifiedBy>Divyesh Hadiya</cp:lastModifiedBy>
  <cp:revision>1</cp:revision>
  <dcterms:created xsi:type="dcterms:W3CDTF">2026-09-13T06:22:34Z</dcterms:created>
  <dcterms:modified xsi:type="dcterms:W3CDTF">2026-09-13T06:22:34Z</dcterms:modified>
</cp:coreProperties>
</file>